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1" r:id="rId3"/>
    <p:sldId id="279" r:id="rId5"/>
    <p:sldId id="257" r:id="rId6"/>
    <p:sldId id="258" r:id="rId7"/>
    <p:sldId id="259" r:id="rId8"/>
    <p:sldId id="260" r:id="rId9"/>
    <p:sldId id="280" r:id="rId10"/>
    <p:sldId id="262" r:id="rId11"/>
    <p:sldId id="263" r:id="rId12"/>
    <p:sldId id="282" r:id="rId13"/>
    <p:sldId id="265" r:id="rId14"/>
    <p:sldId id="266" r:id="rId15"/>
    <p:sldId id="267" r:id="rId16"/>
    <p:sldId id="268" r:id="rId17"/>
    <p:sldId id="269" r:id="rId18"/>
    <p:sldId id="283" r:id="rId19"/>
    <p:sldId id="270" r:id="rId20"/>
    <p:sldId id="271" r:id="rId21"/>
    <p:sldId id="274" r:id="rId22"/>
    <p:sldId id="275" r:id="rId23"/>
    <p:sldId id="276" r:id="rId24"/>
    <p:sldId id="277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开场问候：我是宋焕莲，今天分享的主题是 AI 赋能需求开发到自动化测试。重点讲 Playwright 自动化测试怎么落地（约占六成），协同方案做支撑（约四成），全程 30 分钟左右。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快速过议程：五个部分。重点在后三块——协同方案 11 分钟、Playwright 8 分钟、实战 7 分钟。底部条说明内容侧重：自动化测试 60%、协同方案 40%。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这是全场全景图：产品原始输出经过整理澄清变成需求基线，往后详设、开发、测试设计、执行回归、封版。右侧强调两点：REQ 是贯穿全流程的统一编号；执行回归有两条分支——通过则回填 04 报告，发现缺陷则挂 REQ 走修复闭环。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大家应该都有共鸣，可以讲慢一点：五种痛点——格式风格不同、完整描述难找全、逻辑藏在原型图里、缺交互逻辑、追溯困难。右下红框强调：这些直接影响用例覆盖度——需求没写到的交互，测试就覆盖不到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解药两个动作：首次基线化，把原始输出收敛成统一模板的 01 文档并打 REQ 编号；版本关闭时增量回写基线，保证完整描述始终一处可查。底部伏笔：知识库颗粒度越细测试越准，但投入也越多——实战章节展开。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 不替代测试，而是嵌入每个环节提效（七步：读文档→摸页面→生成骨架→人工审核→执行→失败分析→回填，其中第 4 步人工审核、第 5 步确定性执行是两条红线）。每一步都有对应 skill 现成可用，左侧表格快扫。右侧副驾定位：skill 管流程触发、agent 管信息整理、AI 管初稿与归因、人管审核。边界：AI 可做四件事，不可做三件事。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四大设计落成结构化目录，协作载体是 IDE + Git。中间截图是真实项目结构，可以停 10 秒让大家看：Prds 目录加 01/02/03 编号天然支持检索，顺带解决了 Ones 不支持 RAG 问答的问题。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一分钟带过：微软维护、支持三大浏览器内核、自动等待/trace/网络拦截原生能力开箱即用、UI 与 API 可同栈治理。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本章重点页，先分别介绍两种方式各 30 秒：左边 cli 交互式，不写脚本，AI 实时决定点什么填什么；右边 test 脚本化，断言预写死，机器确定性执行。底部金句：AI 是驾驶员不是眼睛——判定依据仍是 DOM 文案精确比对，截图仅留证。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真实数据对比，重点讲 Token 行和 CI 行：cli 每次回归重新消耗约 920K token；test 一次性投入后续零 token。覆盖度差异也要解释——cli 89.7% 是因为主动跳过写操作避免数据污染，test 81% 含写操作。结论：各有强弱，互补而非互替。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优势互补：cli 擅长抓文案类真实缺陷——FORM-003 校验提示文案不符就是 cli 抓到的，test 因断言宽松漏检；test 擅长写操作全链路和 route 拦截网络层验证。下方场景表快扫。底部最佳实践：cli 先行探路，脚本跟进沉淀。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工程组织：一个模块一个子目录，四层分工——specs 面向场景、pages 隔离 UI 变化、fixtures 管前后置、data 集中管理断言数据且可追溯到文档。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定位优先级从 testid 到 CSS 逐级降低，需要前端配合补 data-testid。下方失败六分类：环境、鉴权、数据、脚本、缺陷、变更——失败有分类才能闭环，红框 DEFECT 是真缺陷，会进缺陷单挂 REQ。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进入实战。BILLCFG 商业化计费配置模块，两个版本：V1.6.1 从零建设、V1.6.3 增量迭代。6+5 个 REQ、48 到 54 条用例、6 个 spec 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全场最有深度的一页，讲慢点：反直觉观察——编码只占 43% 和 20%，一半以上时间花在知识库建设与消费。红框核心权衡：知识库质量与交付速度的取舍，按模块 P0/P1 决定投入程度。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维护成本：需求变动要 01/02/03 与脚本联动更新；增量场景要先判断失效知识库和影响范围。多模块联动是下一个挑战——需要 01b 数据流转设计支撑，编号体系已预留跨模块扩展，但尚未试点验证，诚实说明。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回收开场问题：答案一句话——用一个 REQ 编号贯穿全流程，四大支撑。但它不是免费的：整理审核挤占开发时间，维护成本持续存在，按 P0/P1 权衡投入。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五条 Takeaway 一口气念完作为收尾串词：一个编号、三大支撑、两条路线、一个定位、一道权衡。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auto-test-sha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753600" y="0"/>
            <a:ext cx="2438400" cy="182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753600" y="0"/>
            <a:ext cx="2438400" cy="1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858500" y="571500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4266" y="1925002"/>
            <a:ext cx="2100529" cy="205359"/>
            <a:chOff x="604266" y="1925002"/>
            <a:chExt cx="2100529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1925002"/>
              <a:ext cx="2100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技术分享 · BIT 技术研发部</a:t>
              </a:r>
              <a:endParaRPr lang="zh-CN" sz="1050" spc="1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2419350"/>
            <a:ext cx="6093104" cy="586740"/>
            <a:chOff x="594360" y="2419350"/>
            <a:chExt cx="6093104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594360" y="2419350"/>
              <a:ext cx="60931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赋能：需求开发到自动化测试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0456" y="3025140"/>
            <a:ext cx="5818053" cy="352044"/>
            <a:chOff x="600456" y="3025140"/>
            <a:chExt cx="5818053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600456" y="3025140"/>
              <a:ext cx="5818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从上游知识库到 Playwright 确定性执行的一体化实践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3619500"/>
            <a:ext cx="5600700" cy="419100"/>
            <a:chOff x="609600" y="3619500"/>
            <a:chExt cx="5600700" cy="419100"/>
          </a:xfrm>
        </p:grpSpPr>
        <p:sp>
          <p:nvSpPr>
            <p:cNvPr id="12" name="Rectangle 12"/>
            <p:cNvSpPr/>
            <p:nvPr/>
          </p:nvSpPr>
          <p:spPr>
            <a:xfrm>
              <a:off x="609600" y="3619500"/>
              <a:ext cx="1790700" cy="4191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3162" y="3772852"/>
              <a:ext cx="70358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 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90800" y="3619500"/>
              <a:ext cx="1562100" cy="4191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86736" y="3772852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 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43400" y="3619500"/>
              <a:ext cx="18669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67014" y="3772852"/>
              <a:ext cx="1219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BILLCFG 真实试点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5928360"/>
            <a:ext cx="3451555" cy="234696"/>
            <a:chOff x="603504" y="5928360"/>
            <a:chExt cx="3451555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5928360"/>
              <a:ext cx="3451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分享人：宋焕莲 · BIT 技术研发部 软件工程组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032865" y="5944552"/>
            <a:ext cx="554869" cy="205359"/>
            <a:chOff x="11032865" y="5944552"/>
            <a:chExt cx="554869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11032865" y="59445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2026.08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625" y="0"/>
            <a:ext cx="5286375" cy="5334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4"/>
          <p:cNvGrpSpPr/>
          <p:nvPr/>
        </p:nvGrpSpPr>
        <p:grpSpPr>
          <a:xfrm>
            <a:off x="609600" y="568642"/>
            <a:ext cx="6419850" cy="557403"/>
            <a:chOff x="609600" y="568642"/>
            <a:chExt cx="6419850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3"/>
            <p:cNvSpPr txBox="1"/>
            <p:nvPr/>
          </p:nvSpPr>
          <p:spPr>
            <a:xfrm>
              <a:off x="861822" y="56864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想做自动化测试，但为什么做不好？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447800"/>
            <a:ext cx="10972800" cy="914400"/>
            <a:chOff x="609600" y="1447800"/>
            <a:chExt cx="10972800" cy="914400"/>
          </a:xfrm>
        </p:grpSpPr>
        <p:sp>
          <p:nvSpPr>
            <p:cNvPr id="6" name="Rectangle 5"/>
            <p:cNvSpPr/>
            <p:nvPr/>
          </p:nvSpPr>
          <p:spPr>
            <a:xfrm>
              <a:off x="609600" y="1447800"/>
              <a:ext cx="10972800" cy="9144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6"/>
            <p:cNvSpPr/>
            <p:nvPr/>
          </p:nvSpPr>
          <p:spPr>
            <a:xfrm>
              <a:off x="876300" y="17145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7"/>
            <p:cNvSpPr txBox="1"/>
            <p:nvPr/>
          </p:nvSpPr>
          <p:spPr>
            <a:xfrm>
              <a:off x="1014058" y="1832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40942" y="1702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1441704" y="20040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为了提升、保证开发质量，我们想要做自动化测试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514600"/>
            <a:ext cx="10972800" cy="914400"/>
            <a:chOff x="609600" y="2514600"/>
            <a:chExt cx="10972800" cy="914400"/>
          </a:xfrm>
        </p:grpSpPr>
        <p:sp>
          <p:nvSpPr>
            <p:cNvPr id="12" name="Rectangle 11"/>
            <p:cNvSpPr/>
            <p:nvPr/>
          </p:nvSpPr>
          <p:spPr>
            <a:xfrm>
              <a:off x="609600" y="2514600"/>
              <a:ext cx="10972800" cy="9144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Ellipse 12"/>
            <p:cNvSpPr/>
            <p:nvPr/>
          </p:nvSpPr>
          <p:spPr>
            <a:xfrm>
              <a:off x="876300" y="27813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3"/>
            <p:cNvSpPr txBox="1"/>
            <p:nvPr/>
          </p:nvSpPr>
          <p:spPr>
            <a:xfrm>
              <a:off x="1014058" y="2899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40942" y="2768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现实：自动化测试是系统开发的最后一环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5"/>
            <p:cNvSpPr txBox="1"/>
            <p:nvPr/>
          </p:nvSpPr>
          <p:spPr>
            <a:xfrm>
              <a:off x="1441704" y="30708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只靠测试用例写出来的脚本，测试的覆盖度和准确度完全不够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581400"/>
            <a:ext cx="10972800" cy="914400"/>
            <a:chOff x="609600" y="3581400"/>
            <a:chExt cx="10972800" cy="914400"/>
          </a:xfrm>
        </p:grpSpPr>
        <p:sp>
          <p:nvSpPr>
            <p:cNvPr id="18" name="Rectangle 17"/>
            <p:cNvSpPr/>
            <p:nvPr/>
          </p:nvSpPr>
          <p:spPr>
            <a:xfrm>
              <a:off x="609600" y="3581400"/>
              <a:ext cx="10972800" cy="9144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8"/>
            <p:cNvSpPr/>
            <p:nvPr/>
          </p:nvSpPr>
          <p:spPr>
            <a:xfrm>
              <a:off x="876300" y="38481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19"/>
            <p:cNvSpPr txBox="1"/>
            <p:nvPr/>
          </p:nvSpPr>
          <p:spPr>
            <a:xfrm>
              <a:off x="1014058" y="3966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40942" y="3835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原因：脚本缺少上游知识库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1"/>
            <p:cNvSpPr txBox="1"/>
            <p:nvPr/>
          </p:nvSpPr>
          <p:spPr>
            <a:xfrm>
              <a:off x="1441704" y="4137660"/>
              <a:ext cx="5359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脚本缺少对需求的完整理解——需要需求文档、详细设计文档作为知识库支撑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648200"/>
            <a:ext cx="10972800" cy="1143000"/>
            <a:chOff x="609600" y="4648200"/>
            <a:chExt cx="10972800" cy="1143000"/>
          </a:xfrm>
        </p:grpSpPr>
        <p:sp>
          <p:nvSpPr>
            <p:cNvPr id="24" name="Rectangle 23"/>
            <p:cNvSpPr/>
            <p:nvPr/>
          </p:nvSpPr>
          <p:spPr>
            <a:xfrm>
              <a:off x="609600" y="4648200"/>
              <a:ext cx="10972800" cy="11430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4"/>
            <p:cNvSpPr/>
            <p:nvPr/>
          </p:nvSpPr>
          <p:spPr>
            <a:xfrm>
              <a:off x="876300" y="5029200"/>
              <a:ext cx="381000" cy="3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5"/>
            <p:cNvSpPr txBox="1"/>
            <p:nvPr/>
          </p:nvSpPr>
          <p:spPr>
            <a:xfrm>
              <a:off x="1014058" y="51473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40942" y="4978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由此引出核心问题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7"/>
            <p:cNvSpPr txBox="1"/>
            <p:nvPr/>
          </p:nvSpPr>
          <p:spPr>
            <a:xfrm>
              <a:off x="1441704" y="5280660"/>
              <a:ext cx="7309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如何让「需求 → 开发 → 测试」围绕同一条主线跑起来，并用 AI 把自动化测试的产出效率提上去？</a:t>
              </a:r>
              <a:endParaRPr lang="zh-CN" sz="120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68642"/>
            <a:ext cx="976122" cy="438150"/>
            <a:chOff x="609600" y="568642"/>
            <a:chExt cx="976122" cy="438150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7239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676400"/>
            <a:ext cx="10972800" cy="800100"/>
            <a:chOff x="609600" y="1676400"/>
            <a:chExt cx="10972800" cy="8001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10972800" cy="8001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9050">
              <a:solidFill>
                <a:srgbClr val="DAEAF8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18859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7858" y="2004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3980" y="1876425"/>
              <a:ext cx="3238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协同方案：从需求输入到测试的全链路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6266" y="2210752"/>
              <a:ext cx="3744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需求基线保覆盖度 · 结构化详设保准确度 · IDE + AI 提效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628900"/>
            <a:ext cx="10972800" cy="800100"/>
            <a:chOff x="609600" y="2628900"/>
            <a:chExt cx="10972800" cy="800100"/>
          </a:xfrm>
        </p:grpSpPr>
        <p:sp>
          <p:nvSpPr>
            <p:cNvPr id="11" name="Rectangle 11"/>
            <p:cNvSpPr/>
            <p:nvPr/>
          </p:nvSpPr>
          <p:spPr>
            <a:xfrm>
              <a:off x="609600" y="2628900"/>
              <a:ext cx="10972800" cy="8001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9050">
              <a:solidFill>
                <a:srgbClr val="DAEAF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00100" y="28384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858" y="2956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3980" y="2828925"/>
              <a:ext cx="2203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Playwright 自动化测试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6266" y="3163252"/>
              <a:ext cx="3749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两种使用方式对比 · 目录结构与分层 · 定位规范 · 失败归因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581400"/>
            <a:ext cx="10972800" cy="800100"/>
            <a:chOff x="609600" y="3581400"/>
            <a:chExt cx="10972800" cy="800100"/>
          </a:xfrm>
        </p:grpSpPr>
        <p:sp>
          <p:nvSpPr>
            <p:cNvPr id="17" name="Rectangle 17"/>
            <p:cNvSpPr/>
            <p:nvPr/>
          </p:nvSpPr>
          <p:spPr>
            <a:xfrm>
              <a:off x="609600" y="3581400"/>
              <a:ext cx="10972800" cy="8001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9050">
              <a:solidFill>
                <a:srgbClr val="DAEAF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" y="37909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7858" y="3909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3980" y="3781425"/>
              <a:ext cx="3449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实战案例：BILLCFG 商业化计费配置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6266" y="4115752"/>
              <a:ext cx="3721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V1.6.1（0→1）与 V1.6.3（1→1.x）两个场景的真实数据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533900"/>
            <a:ext cx="10972800" cy="800100"/>
            <a:chOff x="609600" y="4533900"/>
            <a:chExt cx="10972800" cy="800100"/>
          </a:xfrm>
        </p:grpSpPr>
        <p:sp>
          <p:nvSpPr>
            <p:cNvPr id="23" name="Rectangle 23"/>
            <p:cNvSpPr/>
            <p:nvPr/>
          </p:nvSpPr>
          <p:spPr>
            <a:xfrm>
              <a:off x="609600" y="4533900"/>
              <a:ext cx="10972800" cy="8001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19050">
              <a:solidFill>
                <a:srgbClr val="DAEA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00100" y="47434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7858" y="4861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63980" y="47339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6266" y="5068252"/>
              <a:ext cx="20107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回收核心问题 + 五条 Takeaway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68642"/>
            <a:ext cx="7957566" cy="557403"/>
            <a:chOff x="609600" y="568642"/>
            <a:chExt cx="7957566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60227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全流程：需求 → 开发 → 测试 → 封版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73418" y="6981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一条主线贯穿到底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77000" y="1447800"/>
            <a:ext cx="5067300" cy="1143000"/>
            <a:chOff x="6477000" y="1447800"/>
            <a:chExt cx="5067300" cy="1143000"/>
          </a:xfrm>
        </p:grpSpPr>
        <p:sp>
          <p:nvSpPr>
            <p:cNvPr id="6" name="Rectangle 6"/>
            <p:cNvSpPr/>
            <p:nvPr/>
          </p:nvSpPr>
          <p:spPr>
            <a:xfrm>
              <a:off x="6477000" y="1447800"/>
              <a:ext cx="50673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67322" y="1692592"/>
              <a:ext cx="81641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REQ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28204" y="17754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一个功能点编号，贯穿全流程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966" y="20393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所有产物围绕它可追踪、可回填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447800"/>
            <a:ext cx="5524500" cy="457200"/>
            <a:chOff x="609600" y="1447800"/>
            <a:chExt cx="5524500" cy="4572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478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1587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产品原始输出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16202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原始需求文档 / 原型图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Line 15"/>
          <p:cNvSpPr/>
          <p:nvPr/>
        </p:nvSpPr>
        <p:spPr>
          <a:xfrm>
            <a:off x="1143000" y="1905000"/>
            <a:ext cx="1" cy="1524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grpSp>
        <p:nvGrpSpPr>
          <p:cNvPr id="19" name="Group 19"/>
          <p:cNvGrpSpPr/>
          <p:nvPr/>
        </p:nvGrpSpPr>
        <p:grpSpPr>
          <a:xfrm>
            <a:off x="609600" y="2095500"/>
            <a:ext cx="5524500" cy="457200"/>
            <a:chOff x="609600" y="2095500"/>
            <a:chExt cx="5524500" cy="457200"/>
          </a:xfrm>
        </p:grpSpPr>
        <p:sp>
          <p:nvSpPr>
            <p:cNvPr id="16" name="Rectangle 16"/>
            <p:cNvSpPr/>
            <p:nvPr/>
          </p:nvSpPr>
          <p:spPr>
            <a:xfrm>
              <a:off x="609600" y="20955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1342" y="2235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需求基线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1666" y="2267902"/>
              <a:ext cx="1881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01-需求文档.md + REQ 编号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Line 20"/>
          <p:cNvSpPr/>
          <p:nvPr/>
        </p:nvSpPr>
        <p:spPr>
          <a:xfrm>
            <a:off x="1143000" y="2552700"/>
            <a:ext cx="1" cy="1524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609600" y="2743200"/>
            <a:ext cx="5524500" cy="457200"/>
            <a:chOff x="609600" y="2743200"/>
            <a:chExt cx="5524500" cy="457200"/>
          </a:xfrm>
        </p:grpSpPr>
        <p:sp>
          <p:nvSpPr>
            <p:cNvPr id="21" name="Rectangle 21"/>
            <p:cNvSpPr/>
            <p:nvPr/>
          </p:nvSpPr>
          <p:spPr>
            <a:xfrm>
              <a:off x="609600" y="27432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2883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详细设计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61666" y="2915602"/>
              <a:ext cx="1353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02-详细设计文档.md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" name="Line 25"/>
          <p:cNvSpPr/>
          <p:nvPr/>
        </p:nvSpPr>
        <p:spPr>
          <a:xfrm>
            <a:off x="1143000" y="3200400"/>
            <a:ext cx="1" cy="1524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grpSp>
        <p:nvGrpSpPr>
          <p:cNvPr id="29" name="Group 29"/>
          <p:cNvGrpSpPr/>
          <p:nvPr/>
        </p:nvGrpSpPr>
        <p:grpSpPr>
          <a:xfrm>
            <a:off x="609600" y="3390900"/>
            <a:ext cx="5524500" cy="457200"/>
            <a:chOff x="609600" y="3390900"/>
            <a:chExt cx="5524500" cy="457200"/>
          </a:xfrm>
        </p:grpSpPr>
        <p:sp>
          <p:nvSpPr>
            <p:cNvPr id="26" name="Rectangle 26"/>
            <p:cNvSpPr/>
            <p:nvPr/>
          </p:nvSpPr>
          <p:spPr>
            <a:xfrm>
              <a:off x="609600" y="33909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3530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开发实现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61666" y="3563302"/>
              <a:ext cx="1636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代码 + prd-to-code 映射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Line 30"/>
          <p:cNvSpPr/>
          <p:nvPr/>
        </p:nvSpPr>
        <p:spPr>
          <a:xfrm>
            <a:off x="1143000" y="3848100"/>
            <a:ext cx="1" cy="1524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grpSp>
        <p:nvGrpSpPr>
          <p:cNvPr id="34" name="Group 34"/>
          <p:cNvGrpSpPr/>
          <p:nvPr/>
        </p:nvGrpSpPr>
        <p:grpSpPr>
          <a:xfrm>
            <a:off x="609600" y="4038600"/>
            <a:ext cx="5524500" cy="457200"/>
            <a:chOff x="609600" y="4038600"/>
            <a:chExt cx="5524500" cy="457200"/>
          </a:xfrm>
        </p:grpSpPr>
        <p:sp>
          <p:nvSpPr>
            <p:cNvPr id="31" name="Rectangle 31"/>
            <p:cNvSpPr/>
            <p:nvPr/>
          </p:nvSpPr>
          <p:spPr>
            <a:xfrm>
              <a:off x="609600" y="40386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4178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测试设计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+ 自动化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61666" y="4211002"/>
              <a:ext cx="2278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03-测试用例.md + ATS-*.spec.ts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5" name="Line 35"/>
          <p:cNvSpPr/>
          <p:nvPr/>
        </p:nvSpPr>
        <p:spPr>
          <a:xfrm>
            <a:off x="1143000" y="4495800"/>
            <a:ext cx="1" cy="1524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grpSp>
        <p:nvGrpSpPr>
          <p:cNvPr id="39" name="Group 39"/>
          <p:cNvGrpSpPr/>
          <p:nvPr/>
        </p:nvGrpSpPr>
        <p:grpSpPr>
          <a:xfrm>
            <a:off x="609600" y="4686300"/>
            <a:ext cx="5524500" cy="457200"/>
            <a:chOff x="609600" y="4686300"/>
            <a:chExt cx="5524500" cy="457200"/>
          </a:xfrm>
        </p:grpSpPr>
        <p:sp>
          <p:nvSpPr>
            <p:cNvPr id="36" name="Rectangle 36"/>
            <p:cNvSpPr/>
            <p:nvPr/>
          </p:nvSpPr>
          <p:spPr>
            <a:xfrm>
              <a:off x="609600" y="46863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1342" y="4826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执行回归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61666" y="48587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发现问题 → 缺陷闭环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0" name="Line 40"/>
          <p:cNvSpPr/>
          <p:nvPr/>
        </p:nvSpPr>
        <p:spPr>
          <a:xfrm>
            <a:off x="1143000" y="5143500"/>
            <a:ext cx="1" cy="152400"/>
          </a:xfrm>
          <a:prstGeom prst="line">
            <a:avLst/>
          </a:prstGeom>
          <a:noFill/>
          <a:ln w="19050">
            <a:solidFill>
              <a:schemeClr val="accent1"/>
            </a:solidFill>
            <a:tailEnd type="triangle" w="lg" len="lg"/>
          </a:ln>
        </p:spPr>
      </p:sp>
      <p:grpSp>
        <p:nvGrpSpPr>
          <p:cNvPr id="44" name="Group 44"/>
          <p:cNvGrpSpPr/>
          <p:nvPr/>
        </p:nvGrpSpPr>
        <p:grpSpPr>
          <a:xfrm>
            <a:off x="609600" y="5334000"/>
            <a:ext cx="5524500" cy="457200"/>
            <a:chOff x="609600" y="5334000"/>
            <a:chExt cx="5524500" cy="457200"/>
          </a:xfrm>
        </p:grpSpPr>
        <p:sp>
          <p:nvSpPr>
            <p:cNvPr id="41" name="Rectangle 41"/>
            <p:cNvSpPr/>
            <p:nvPr/>
          </p:nvSpPr>
          <p:spPr>
            <a:xfrm>
              <a:off x="609600" y="5334000"/>
              <a:ext cx="5524500" cy="457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1342" y="547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61666" y="5506402"/>
              <a:ext cx="1695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CHANGELOG.md + Git Tag</a:t>
              </a:r>
              <a:endParaRPr lang="zh-CN" sz="105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0" y="2819400"/>
            <a:ext cx="5067300" cy="838200"/>
            <a:chOff x="6477000" y="2819400"/>
            <a:chExt cx="5067300" cy="838200"/>
          </a:xfrm>
        </p:grpSpPr>
        <p:sp>
          <p:nvSpPr>
            <p:cNvPr id="45" name="Rectangle 45"/>
            <p:cNvSpPr/>
            <p:nvPr/>
          </p:nvSpPr>
          <p:spPr>
            <a:xfrm>
              <a:off x="6477000" y="2819400"/>
              <a:ext cx="5067300" cy="8382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99504" y="299466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 → 结果回填</a:t>
              </a:r>
              <a:endPara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0266" y="3277552"/>
              <a:ext cx="266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回填 04-测试报告文档.md，纳入版本台账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77000" y="3886200"/>
            <a:ext cx="5067300" cy="1219200"/>
            <a:chOff x="6477000" y="3886200"/>
            <a:chExt cx="5067300" cy="1219200"/>
          </a:xfrm>
        </p:grpSpPr>
        <p:sp>
          <p:nvSpPr>
            <p:cNvPr id="49" name="Rectangle 49"/>
            <p:cNvSpPr/>
            <p:nvPr/>
          </p:nvSpPr>
          <p:spPr>
            <a:xfrm>
              <a:off x="6477000" y="3886200"/>
              <a:ext cx="5067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99504" y="406146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发现缺陷 → 缺陷闭环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0266" y="4325302"/>
              <a:ext cx="2975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缺陷单挂 REQ → 开发修复（PR 挂同一 REQ）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0266" y="4572952"/>
              <a:ext cx="2123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→ 回归验证同一 REQ → 结果回填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471666" y="5411152"/>
            <a:ext cx="35868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整理 + 澄清 + 结构化：把产品原始输出收敛为结构化基线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6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57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60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1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63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4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68642"/>
            <a:ext cx="10256520" cy="557403"/>
            <a:chOff x="609600" y="568642"/>
            <a:chExt cx="10256520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1000429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需求侧：为什么需要「需求基线化」？（决定测试覆盖度）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428750"/>
            <a:ext cx="3505200" cy="1676400"/>
            <a:chOff x="609600" y="1428750"/>
            <a:chExt cx="3505200" cy="1676400"/>
          </a:xfrm>
        </p:grpSpPr>
        <p:sp>
          <p:nvSpPr>
            <p:cNvPr id="5" name="Rectangle 5"/>
            <p:cNvSpPr/>
            <p:nvPr/>
          </p:nvSpPr>
          <p:spPr>
            <a:xfrm>
              <a:off x="609600" y="1428750"/>
              <a:ext cx="3505200" cy="16764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606868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格式与风格不同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2104" y="1927860"/>
              <a:ext cx="1688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不同产品经理产出的需求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描述差异大，AI 解析时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容易遗漏关键约束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428750"/>
            <a:ext cx="3505200" cy="1676400"/>
            <a:chOff x="4343400" y="1428750"/>
            <a:chExt cx="3505200" cy="1676400"/>
          </a:xfrm>
        </p:grpSpPr>
        <p:sp>
          <p:nvSpPr>
            <p:cNvPr id="9" name="Rectangle 9"/>
            <p:cNvSpPr/>
            <p:nvPr/>
          </p:nvSpPr>
          <p:spPr>
            <a:xfrm>
              <a:off x="4343400" y="1428750"/>
              <a:ext cx="3505200" cy="16764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65142" y="1606868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完整描述难找全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5904" y="1927860"/>
              <a:ext cx="16428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需求往往只给增量点，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开发/AI 需要完整描述，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得翻多个版本文档拼凑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77200" y="1428750"/>
            <a:ext cx="3505200" cy="1676400"/>
            <a:chOff x="8077200" y="1428750"/>
            <a:chExt cx="3505200" cy="1676400"/>
          </a:xfrm>
        </p:grpSpPr>
        <p:sp>
          <p:nvSpPr>
            <p:cNvPr id="13" name="Rectangle 13"/>
            <p:cNvSpPr/>
            <p:nvPr/>
          </p:nvSpPr>
          <p:spPr>
            <a:xfrm>
              <a:off x="8077200" y="1428750"/>
              <a:ext cx="3505200" cy="16764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8942" y="16068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逻辑藏在原型图里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9704" y="1927860"/>
              <a:ext cx="146761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部分逻辑只在原型图/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页面截图中，AI 读图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理解业务规则易出错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3295650"/>
            <a:ext cx="3505200" cy="1676400"/>
            <a:chOff x="609600" y="3295650"/>
            <a:chExt cx="3505200" cy="1676400"/>
          </a:xfrm>
        </p:grpSpPr>
        <p:sp>
          <p:nvSpPr>
            <p:cNvPr id="17" name="Rectangle 17"/>
            <p:cNvSpPr/>
            <p:nvPr/>
          </p:nvSpPr>
          <p:spPr>
            <a:xfrm>
              <a:off x="609600" y="3295650"/>
              <a:ext cx="3505200" cy="16764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342" y="347376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缺少交互逻辑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3794760"/>
              <a:ext cx="1688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需求只写「有什么」缺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「怎么交互」——状态流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转、联动、边界行为缺失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43400" y="3295650"/>
            <a:ext cx="3505200" cy="1676400"/>
            <a:chOff x="4343400" y="3295650"/>
            <a:chExt cx="3505200" cy="1676400"/>
          </a:xfrm>
        </p:grpSpPr>
        <p:sp>
          <p:nvSpPr>
            <p:cNvPr id="21" name="Rectangle 21"/>
            <p:cNvSpPr/>
            <p:nvPr/>
          </p:nvSpPr>
          <p:spPr>
            <a:xfrm>
              <a:off x="4343400" y="3295650"/>
              <a:ext cx="3505200" cy="16764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65142" y="34737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追溯困难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5904" y="3794760"/>
              <a:ext cx="16885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脚本、缺陷、代码与需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求点缺少关联，出问题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时说不清测的是哪个需求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77200" y="3295650"/>
            <a:ext cx="3505200" cy="1676400"/>
            <a:chOff x="8077200" y="3295650"/>
            <a:chExt cx="3505200" cy="1676400"/>
          </a:xfrm>
        </p:grpSpPr>
        <p:sp>
          <p:nvSpPr>
            <p:cNvPr id="25" name="Rectangle 25"/>
            <p:cNvSpPr/>
            <p:nvPr/>
          </p:nvSpPr>
          <p:spPr>
            <a:xfrm>
              <a:off x="8077200" y="3295650"/>
              <a:ext cx="3505200" cy="1676400"/>
            </a:xfrm>
            <a:prstGeom prst="roundRect">
              <a:avLst>
                <a:gd name="adj" fmla="val 4545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7418" y="3593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直接影响覆盖度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9704" y="3985260"/>
              <a:ext cx="13837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用例从需求派生——</a:t>
              </a:r>
              <a:b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需求没写到的交互，</a:t>
              </a:r>
              <a:b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测试就覆盖不到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295900"/>
            <a:ext cx="10972800" cy="533400"/>
            <a:chOff x="609600" y="5295900"/>
            <a:chExt cx="10972800" cy="533400"/>
          </a:xfrm>
        </p:grpSpPr>
        <p:sp>
          <p:nvSpPr>
            <p:cNvPr id="29" name="Rectangle 29"/>
            <p:cNvSpPr/>
            <p:nvPr/>
          </p:nvSpPr>
          <p:spPr>
            <a:xfrm>
              <a:off x="609600" y="52959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03345" y="5493068"/>
              <a:ext cx="4585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解药：把零散的需求收敛为「结构化基线」——下一页展开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3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34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7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0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1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40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3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6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13"/>
          <p:cNvGrpSpPr/>
          <p:nvPr/>
        </p:nvGrpSpPr>
        <p:grpSpPr>
          <a:xfrm>
            <a:off x="609600" y="568642"/>
            <a:ext cx="6498717" cy="438150"/>
            <a:chOff x="609600" y="568642"/>
            <a:chExt cx="6498717" cy="438150"/>
          </a:xfrm>
        </p:grpSpPr>
        <p:sp>
          <p:nvSpPr>
            <p:cNvPr id="49" name="Rectangle 11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12"/>
            <p:cNvSpPr txBox="1"/>
            <p:nvPr/>
          </p:nvSpPr>
          <p:spPr>
            <a:xfrm>
              <a:off x="861822" y="568642"/>
              <a:ext cx="624649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方案：统一模板结构化 + 增量维护全量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17"/>
          <p:cNvGrpSpPr/>
          <p:nvPr/>
        </p:nvGrpSpPr>
        <p:grpSpPr>
          <a:xfrm>
            <a:off x="609600" y="1085850"/>
            <a:ext cx="10972800" cy="365951"/>
            <a:chOff x="609600" y="1085850"/>
            <a:chExt cx="10972800" cy="365951"/>
          </a:xfrm>
        </p:grpSpPr>
        <p:sp>
          <p:nvSpPr>
            <p:cNvPr id="52" name="Rectangle 14"/>
            <p:cNvSpPr/>
            <p:nvPr/>
          </p:nvSpPr>
          <p:spPr>
            <a:xfrm>
              <a:off x="609600" y="1085850"/>
              <a:ext cx="10972800" cy="361950"/>
            </a:xfrm>
            <a:prstGeom prst="roundRect">
              <a:avLst>
                <a:gd name="adj" fmla="val 1578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3" name="Rectangle 15"/>
            <p:cNvSpPr/>
            <p:nvPr/>
          </p:nvSpPr>
          <p:spPr>
            <a:xfrm>
              <a:off x="609600" y="1085850"/>
              <a:ext cx="5715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16"/>
            <p:cNvSpPr txBox="1"/>
            <p:nvPr/>
          </p:nvSpPr>
          <p:spPr>
            <a:xfrm>
              <a:off x="869442" y="1187768"/>
              <a:ext cx="7619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一句话原理：给每个模块维护一份「最新最全」的需求文档 —— 统一模板结构化 + 增量维护全量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29"/>
          <p:cNvGrpSpPr/>
          <p:nvPr/>
        </p:nvGrpSpPr>
        <p:grpSpPr>
          <a:xfrm>
            <a:off x="609600" y="1562100"/>
            <a:ext cx="5334000" cy="1844611"/>
            <a:chOff x="609600" y="1562100"/>
            <a:chExt cx="5334000" cy="1844611"/>
          </a:xfrm>
        </p:grpSpPr>
        <p:sp>
          <p:nvSpPr>
            <p:cNvPr id="56" name="Rectangle 18"/>
            <p:cNvSpPr/>
            <p:nvPr/>
          </p:nvSpPr>
          <p:spPr>
            <a:xfrm>
              <a:off x="609600" y="1562100"/>
              <a:ext cx="5334000" cy="1828800"/>
            </a:xfrm>
            <a:prstGeom prst="roundRect">
              <a:avLst>
                <a:gd name="adj" fmla="val 41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7" name="TextBox 19"/>
            <p:cNvSpPr txBox="1"/>
            <p:nvPr/>
          </p:nvSpPr>
          <p:spPr>
            <a:xfrm>
              <a:off x="906018" y="1726882"/>
              <a:ext cx="1325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首次建基线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20"/>
            <p:cNvSpPr txBox="1"/>
            <p:nvPr/>
          </p:nvSpPr>
          <p:spPr>
            <a:xfrm>
              <a:off x="2509266" y="1791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模块第一次接入时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21"/>
            <p:cNvSpPr txBox="1"/>
            <p:nvPr/>
          </p:nvSpPr>
          <p:spPr>
            <a:xfrm>
              <a:off x="908304" y="204216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整理 + 澄清 + 结构化，收敛为统一模板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22"/>
            <p:cNvSpPr/>
            <p:nvPr/>
          </p:nvSpPr>
          <p:spPr>
            <a:xfrm>
              <a:off x="914400" y="2324100"/>
              <a:ext cx="17145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1" name="TextBox 23"/>
            <p:cNvSpPr txBox="1"/>
            <p:nvPr/>
          </p:nvSpPr>
          <p:spPr>
            <a:xfrm>
              <a:off x="1280922" y="2480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产品原始输出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Line 24"/>
            <p:cNvSpPr/>
            <p:nvPr/>
          </p:nvSpPr>
          <p:spPr>
            <a:xfrm>
              <a:off x="2705100" y="2552700"/>
              <a:ext cx="4953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3" name="Rectangle 25"/>
            <p:cNvSpPr/>
            <p:nvPr/>
          </p:nvSpPr>
          <p:spPr>
            <a:xfrm>
              <a:off x="3238500" y="2324100"/>
              <a:ext cx="2324100" cy="457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26"/>
            <p:cNvSpPr txBox="1"/>
            <p:nvPr/>
          </p:nvSpPr>
          <p:spPr>
            <a:xfrm>
              <a:off x="3774529" y="2480310"/>
              <a:ext cx="1252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01-需求文档.md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27"/>
            <p:cNvSpPr txBox="1"/>
            <p:nvPr/>
          </p:nvSpPr>
          <p:spPr>
            <a:xfrm>
              <a:off x="909066" y="2953702"/>
              <a:ext cx="2132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113665" indent="-11366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每个功能点打上唯一 REQ 编号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28"/>
            <p:cNvSpPr txBox="1"/>
            <p:nvPr/>
          </p:nvSpPr>
          <p:spPr>
            <a:xfrm>
              <a:off x="909066" y="3201352"/>
              <a:ext cx="2580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113665" indent="-11366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 / 测试 / AI 之后都从基线取信息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41"/>
          <p:cNvGrpSpPr/>
          <p:nvPr/>
        </p:nvGrpSpPr>
        <p:grpSpPr>
          <a:xfrm>
            <a:off x="6248400" y="1562100"/>
            <a:ext cx="5334000" cy="1844611"/>
            <a:chOff x="6248400" y="1562100"/>
            <a:chExt cx="5334000" cy="1844611"/>
          </a:xfrm>
        </p:grpSpPr>
        <p:sp>
          <p:nvSpPr>
            <p:cNvPr id="68" name="Rectangle 30"/>
            <p:cNvSpPr/>
            <p:nvPr/>
          </p:nvSpPr>
          <p:spPr>
            <a:xfrm>
              <a:off x="6248400" y="1562100"/>
              <a:ext cx="5334000" cy="1828800"/>
            </a:xfrm>
            <a:prstGeom prst="roundRect">
              <a:avLst>
                <a:gd name="adj" fmla="val 41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9" name="TextBox 31"/>
            <p:cNvSpPr txBox="1"/>
            <p:nvPr/>
          </p:nvSpPr>
          <p:spPr>
            <a:xfrm>
              <a:off x="6544818" y="1726882"/>
              <a:ext cx="1547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每版增量回写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32"/>
            <p:cNvSpPr txBox="1"/>
            <p:nvPr/>
          </p:nvSpPr>
          <p:spPr>
            <a:xfrm>
              <a:off x="8243316" y="17916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版本关闭时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33"/>
            <p:cNvSpPr txBox="1"/>
            <p:nvPr/>
          </p:nvSpPr>
          <p:spPr>
            <a:xfrm>
              <a:off x="6547104" y="2042160"/>
              <a:ext cx="3016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本版新增 / 修改按 REQ 合并回模块基线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34"/>
            <p:cNvSpPr/>
            <p:nvPr/>
          </p:nvSpPr>
          <p:spPr>
            <a:xfrm>
              <a:off x="6553200" y="2324100"/>
              <a:ext cx="17145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35"/>
            <p:cNvSpPr txBox="1"/>
            <p:nvPr/>
          </p:nvSpPr>
          <p:spPr>
            <a:xfrm>
              <a:off x="7081266" y="2480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版本增量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Line 36"/>
            <p:cNvSpPr/>
            <p:nvPr/>
          </p:nvSpPr>
          <p:spPr>
            <a:xfrm>
              <a:off x="8343900" y="2552700"/>
              <a:ext cx="4953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5" name="Rectangle 37"/>
            <p:cNvSpPr/>
            <p:nvPr/>
          </p:nvSpPr>
          <p:spPr>
            <a:xfrm>
              <a:off x="8877300" y="2324100"/>
              <a:ext cx="2400300" cy="457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TextBox 38"/>
            <p:cNvSpPr txBox="1"/>
            <p:nvPr/>
          </p:nvSpPr>
          <p:spPr>
            <a:xfrm>
              <a:off x="9425178" y="2480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模块基线（全量）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39"/>
            <p:cNvSpPr txBox="1"/>
            <p:nvPr/>
          </p:nvSpPr>
          <p:spPr>
            <a:xfrm>
              <a:off x="6547866" y="2953702"/>
              <a:ext cx="2491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113665" indent="-11366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skill：version-archive（版本归档）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40"/>
            <p:cNvSpPr txBox="1"/>
            <p:nvPr/>
          </p:nvSpPr>
          <p:spPr>
            <a:xfrm>
              <a:off x="6547866" y="3201352"/>
              <a:ext cx="2668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113665" indent="-11366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基线始终最新最全，不用翻历次版本文档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9" name="Group 52"/>
          <p:cNvGrpSpPr/>
          <p:nvPr/>
        </p:nvGrpSpPr>
        <p:grpSpPr>
          <a:xfrm>
            <a:off x="609600" y="3486150"/>
            <a:ext cx="10972800" cy="1981200"/>
            <a:chOff x="609600" y="3486150"/>
            <a:chExt cx="10972800" cy="1981200"/>
          </a:xfrm>
        </p:grpSpPr>
        <p:sp>
          <p:nvSpPr>
            <p:cNvPr id="80" name="Rectangle 42"/>
            <p:cNvSpPr/>
            <p:nvPr/>
          </p:nvSpPr>
          <p:spPr>
            <a:xfrm>
              <a:off x="609600" y="3486150"/>
              <a:ext cx="10972800" cy="1981200"/>
            </a:xfrm>
            <a:prstGeom prst="roundRect">
              <a:avLst>
                <a:gd name="adj" fmla="val 3846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1" name="TextBox 43"/>
            <p:cNvSpPr txBox="1"/>
            <p:nvPr/>
          </p:nvSpPr>
          <p:spPr>
            <a:xfrm>
              <a:off x="945642" y="3664268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仓库物理形态 —— 版本目录存增量 · 模块目录存全量 · 版本关闭时增量合并进全量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Line 44"/>
            <p:cNvSpPr/>
            <p:nvPr/>
          </p:nvSpPr>
          <p:spPr>
            <a:xfrm>
              <a:off x="952500" y="39433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DAEAF8"/>
              </a:solidFill>
            </a:ln>
          </p:spPr>
        </p:sp>
        <p:sp>
          <p:nvSpPr>
            <p:cNvPr id="83" name="TextBox 45"/>
            <p:cNvSpPr txBox="1"/>
            <p:nvPr/>
          </p:nvSpPr>
          <p:spPr>
            <a:xfrm>
              <a:off x="946404" y="4080510"/>
              <a:ext cx="485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Prds/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46"/>
            <p:cNvSpPr txBox="1"/>
            <p:nvPr/>
          </p:nvSpPr>
          <p:spPr>
            <a:xfrm>
              <a:off x="946404" y="4347210"/>
              <a:ext cx="3775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├─ CONFIG-配置中心 / BILLCFG-商业化计费配置/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47"/>
            <p:cNvSpPr txBox="1"/>
            <p:nvPr/>
          </p:nvSpPr>
          <p:spPr>
            <a:xfrm>
              <a:off x="946404" y="4613910"/>
              <a:ext cx="1905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│　　└─ 01-需求文档.md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TextBox 48"/>
            <p:cNvSpPr txBox="1"/>
            <p:nvPr/>
          </p:nvSpPr>
          <p:spPr>
            <a:xfrm>
              <a:off x="5328666" y="4630102"/>
              <a:ext cx="30981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全量基线 · 始终最新最全 ★ 开发/AI 只看这份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49"/>
            <p:cNvSpPr txBox="1"/>
            <p:nvPr/>
          </p:nvSpPr>
          <p:spPr>
            <a:xfrm>
              <a:off x="946404" y="48806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└─ V1.6.3/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50"/>
            <p:cNvSpPr txBox="1"/>
            <p:nvPr/>
          </p:nvSpPr>
          <p:spPr>
            <a:xfrm>
              <a:off x="946404" y="5147310"/>
              <a:ext cx="193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└─ 01-需求文档.md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TextBox 51"/>
            <p:cNvSpPr txBox="1"/>
            <p:nvPr/>
          </p:nvSpPr>
          <p:spPr>
            <a:xfrm>
              <a:off x="5328666" y="51635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本版增量 · 只写变动点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0" name="TextBox 53"/>
          <p:cNvSpPr txBox="1"/>
          <p:nvPr/>
        </p:nvSpPr>
        <p:spPr>
          <a:xfrm>
            <a:off x="3254807" y="5680710"/>
            <a:ext cx="56823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知识库颗粒度越细，测试越准——但整理与审核时间也越多（权衡详见实战章节）</a:t>
            </a:r>
            <a:endParaRPr lang="zh-CN" sz="120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1" name="TextBox 54"/>
          <p:cNvSpPr txBox="1"/>
          <p:nvPr/>
        </p:nvSpPr>
        <p:spPr>
          <a:xfrm>
            <a:off x="11230540" y="6624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4"/>
          <p:cNvGrpSpPr/>
          <p:nvPr/>
        </p:nvGrpSpPr>
        <p:grpSpPr>
          <a:xfrm>
            <a:off x="609600" y="568642"/>
            <a:ext cx="9489186" cy="557403"/>
            <a:chOff x="609600" y="568642"/>
            <a:chExt cx="9489186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92369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详设侧：为什么需要结构化详设？（决定测试准确度）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390650"/>
            <a:ext cx="10972800" cy="533400"/>
            <a:chOff x="609600" y="1390650"/>
            <a:chExt cx="10972800" cy="533400"/>
          </a:xfrm>
        </p:grpSpPr>
        <p:sp>
          <p:nvSpPr>
            <p:cNvPr id="5" name="Rectangle 5"/>
            <p:cNvSpPr/>
            <p:nvPr/>
          </p:nvSpPr>
          <p:spPr>
            <a:xfrm>
              <a:off x="609600" y="1390650"/>
              <a:ext cx="5486400" cy="5334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82914" y="15878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需求文档管「测没测到」＝覆盖度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0" y="1390650"/>
              <a:ext cx="5486400" cy="53340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0183" y="1587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详设管「测得对不对」＝准确度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3504" y="2156460"/>
            <a:ext cx="6801978" cy="234696"/>
            <a:chOff x="603504" y="2156460"/>
            <a:chExt cx="6801978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2156460"/>
              <a:ext cx="6801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02-详细设计文档.md 中每个功能点（REQ）沉淀五类关键信息，是写测试脚本的直接输入：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457450"/>
            <a:ext cx="6286500" cy="2514600"/>
            <a:chOff x="609600" y="2457450"/>
            <a:chExt cx="6286500" cy="2514600"/>
          </a:xfrm>
        </p:grpSpPr>
        <p:sp>
          <p:nvSpPr>
            <p:cNvPr id="12" name="Rectangle 12"/>
            <p:cNvSpPr/>
            <p:nvPr/>
          </p:nvSpPr>
          <p:spPr>
            <a:xfrm>
              <a:off x="609600" y="2457450"/>
              <a:ext cx="6286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154" y="2594610"/>
              <a:ext cx="1987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详设内容（按 REQ 组织）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4904" y="25946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对测试脚本的作用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2876550"/>
              <a:ext cx="62865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154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前端路由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4904" y="3013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决定测试入口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295650"/>
              <a:ext cx="62865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115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接口信息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4904" y="34328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决定请求与响应断言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714750"/>
              <a:ext cx="62865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154" y="3851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字段名称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4904" y="3851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决定数据与文案校验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133850"/>
              <a:ext cx="62865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1154" y="4271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交互逻辑处理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4904" y="4271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决定操作步骤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4552950"/>
              <a:ext cx="62865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1154" y="4690110"/>
              <a:ext cx="1879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data-testid 清单（§7）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4904" y="4690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决定元素定位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24700" y="2457450"/>
            <a:ext cx="4457700" cy="2514600"/>
            <a:chOff x="7124700" y="2457450"/>
            <a:chExt cx="4457700" cy="2514600"/>
          </a:xfrm>
        </p:grpSpPr>
        <p:sp>
          <p:nvSpPr>
            <p:cNvPr id="31" name="Rectangle 31"/>
            <p:cNvSpPr/>
            <p:nvPr/>
          </p:nvSpPr>
          <p:spPr>
            <a:xfrm>
              <a:off x="7124700" y="2457450"/>
              <a:ext cx="4457700" cy="2514600"/>
            </a:xfrm>
            <a:prstGeom prst="roundRect">
              <a:avLst>
                <a:gd name="adj" fmla="val 3030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4542" y="2654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反过来说：没有结构化详设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6066" y="3010852"/>
              <a:ext cx="2524316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路由、接口、字段、testid 这些信息在 01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 03 里都找不到，AI 写脚本只能自己去翻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前端代码和接口文档——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6066" y="3887152"/>
              <a:ext cx="209092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113665" indent="-113665" algn="l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 testid → 只能用脆弱 CSS 定位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13665" indent="-113665" algn="l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接口/字段断言照抄代码实现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5304" y="4575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断言自然不准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5219700"/>
            <a:ext cx="10972800" cy="609600"/>
            <a:chOff x="609600" y="5219700"/>
            <a:chExt cx="10972800" cy="609600"/>
          </a:xfrm>
        </p:grpSpPr>
        <p:sp>
          <p:nvSpPr>
            <p:cNvPr id="37" name="Rectangle 37"/>
            <p:cNvSpPr/>
            <p:nvPr/>
          </p:nvSpPr>
          <p:spPr>
            <a:xfrm>
              <a:off x="609600" y="5219700"/>
              <a:ext cx="10972800" cy="6096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32757" y="5289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断言以文档为准，不以代码为准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14544" y="5601652"/>
              <a:ext cx="5162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文案/业务规则对齐 01，结构/字段/定位对齐 02；前端代码只用于核对定位与实现</a:t>
              </a:r>
              <a:endParaRPr lang="zh-CN" sz="105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43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6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9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0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4"/>
          <p:cNvGrpSpPr/>
          <p:nvPr/>
        </p:nvGrpSpPr>
        <p:grpSpPr>
          <a:xfrm>
            <a:off x="609600" y="454342"/>
            <a:ext cx="8067591" cy="557403"/>
            <a:chOff x="609600" y="454342"/>
            <a:chExt cx="8067591" cy="557403"/>
          </a:xfrm>
        </p:grpSpPr>
        <p:sp>
          <p:nvSpPr>
            <p:cNvPr id="72" name="Rectangle 2"/>
            <p:cNvSpPr/>
            <p:nvPr/>
          </p:nvSpPr>
          <p:spPr>
            <a:xfrm>
              <a:off x="609600" y="4572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3" name="TextBox 3"/>
            <p:cNvSpPr txBox="1"/>
            <p:nvPr/>
          </p:nvSpPr>
          <p:spPr>
            <a:xfrm>
              <a:off x="861822" y="454342"/>
              <a:ext cx="78153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与技能：如何全流程提效？（决定效率）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" name="Group 45"/>
          <p:cNvGrpSpPr/>
          <p:nvPr/>
        </p:nvGrpSpPr>
        <p:grpSpPr>
          <a:xfrm>
            <a:off x="609600" y="990600"/>
            <a:ext cx="10972800" cy="3790950"/>
            <a:chOff x="609600" y="990600"/>
            <a:chExt cx="10972800" cy="3790950"/>
          </a:xfrm>
        </p:grpSpPr>
        <p:sp>
          <p:nvSpPr>
            <p:cNvPr id="75" name="Rectangle 5"/>
            <p:cNvSpPr/>
            <p:nvPr/>
          </p:nvSpPr>
          <p:spPr>
            <a:xfrm>
              <a:off x="609600" y="990600"/>
              <a:ext cx="13335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TextBox 6"/>
            <p:cNvSpPr txBox="1"/>
            <p:nvPr/>
          </p:nvSpPr>
          <p:spPr>
            <a:xfrm>
              <a:off x="756666" y="1163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"/>
            <p:cNvSpPr/>
            <p:nvPr/>
          </p:nvSpPr>
          <p:spPr>
            <a:xfrm>
              <a:off x="1943100" y="990600"/>
              <a:ext cx="28575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8" name="TextBox 8"/>
            <p:cNvSpPr txBox="1"/>
            <p:nvPr/>
          </p:nvSpPr>
          <p:spPr>
            <a:xfrm>
              <a:off x="2090166" y="11630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Rectangle 9"/>
            <p:cNvSpPr/>
            <p:nvPr/>
          </p:nvSpPr>
          <p:spPr>
            <a:xfrm>
              <a:off x="4800600" y="990600"/>
              <a:ext cx="314325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10"/>
            <p:cNvSpPr txBox="1"/>
            <p:nvPr/>
          </p:nvSpPr>
          <p:spPr>
            <a:xfrm>
              <a:off x="4947666" y="11630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使用的技能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Rectangle 11"/>
            <p:cNvSpPr/>
            <p:nvPr/>
          </p:nvSpPr>
          <p:spPr>
            <a:xfrm>
              <a:off x="7943850" y="990600"/>
              <a:ext cx="15240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2" name="TextBox 12"/>
            <p:cNvSpPr txBox="1"/>
            <p:nvPr/>
          </p:nvSpPr>
          <p:spPr>
            <a:xfrm>
              <a:off x="8090916" y="11630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谁来做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Rectangle 13"/>
            <p:cNvSpPr/>
            <p:nvPr/>
          </p:nvSpPr>
          <p:spPr>
            <a:xfrm>
              <a:off x="9467850" y="990600"/>
              <a:ext cx="211455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14"/>
            <p:cNvSpPr txBox="1"/>
            <p:nvPr/>
          </p:nvSpPr>
          <p:spPr>
            <a:xfrm>
              <a:off x="9614916" y="1163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Rectangle 15"/>
            <p:cNvSpPr/>
            <p:nvPr/>
          </p:nvSpPr>
          <p:spPr>
            <a:xfrm>
              <a:off x="609600" y="1447800"/>
              <a:ext cx="10972800" cy="666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6" name="TextBox 16"/>
            <p:cNvSpPr txBox="1"/>
            <p:nvPr/>
          </p:nvSpPr>
          <p:spPr>
            <a:xfrm>
              <a:off x="756666" y="1658302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文档准备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17"/>
            <p:cNvSpPr txBox="1"/>
            <p:nvPr/>
          </p:nvSpPr>
          <p:spPr>
            <a:xfrm>
              <a:off x="2090547" y="1609249"/>
              <a:ext cx="1540764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需求基线 → 详设 → 测试用例</a:t>
              </a:r>
              <a:b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（01/02/03）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18"/>
            <p:cNvSpPr txBox="1"/>
            <p:nvPr/>
          </p:nvSpPr>
          <p:spPr>
            <a:xfrm>
              <a:off x="4948238" y="1452880"/>
              <a:ext cx="1672590" cy="557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requirement-doc-bootstrap /</a:t>
              </a:r>
              <a:b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detail-design-bootstrap /</a:t>
              </a:r>
              <a:b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testcase-generation</a:t>
              </a:r>
              <a:endParaRPr lang="zh-CN" sz="9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9" name="TextBox 19"/>
            <p:cNvSpPr txBox="1"/>
            <p:nvPr/>
          </p:nvSpPr>
          <p:spPr>
            <a:xfrm>
              <a:off x="8091297" y="1723549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+ 人确认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TextBox 20"/>
            <p:cNvSpPr txBox="1"/>
            <p:nvPr/>
          </p:nvSpPr>
          <p:spPr>
            <a:xfrm>
              <a:off x="9615297" y="1609249"/>
              <a:ext cx="949579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01/02/03 文档 +</a:t>
              </a:r>
              <a:b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 / FT / IT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Rectangle 21"/>
            <p:cNvSpPr/>
            <p:nvPr/>
          </p:nvSpPr>
          <p:spPr>
            <a:xfrm>
              <a:off x="609600" y="2114550"/>
              <a:ext cx="10972800" cy="666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92" name="TextBox 22"/>
            <p:cNvSpPr txBox="1"/>
            <p:nvPr/>
          </p:nvSpPr>
          <p:spPr>
            <a:xfrm>
              <a:off x="756666" y="2325052"/>
              <a:ext cx="925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自动化建设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3" name="TextBox 23"/>
            <p:cNvSpPr txBox="1"/>
            <p:nvPr/>
          </p:nvSpPr>
          <p:spPr>
            <a:xfrm>
              <a:off x="2090547" y="2275999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生成目录与脚本骨架 + 页面摸底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24"/>
            <p:cNvSpPr txBox="1"/>
            <p:nvPr/>
          </p:nvSpPr>
          <p:spPr>
            <a:xfrm>
              <a:off x="4948238" y="2284095"/>
              <a:ext cx="174117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ui/api-automation-bootstrap /</a:t>
              </a:r>
              <a:b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playwright-cli-testing</a:t>
              </a:r>
              <a:endParaRPr lang="zh-CN" sz="9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5" name="TextBox 25"/>
            <p:cNvSpPr txBox="1"/>
            <p:nvPr/>
          </p:nvSpPr>
          <p:spPr>
            <a:xfrm>
              <a:off x="8091297" y="2333149"/>
              <a:ext cx="128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6" name="TextBox 26"/>
            <p:cNvSpPr txBox="1"/>
            <p:nvPr/>
          </p:nvSpPr>
          <p:spPr>
            <a:xfrm>
              <a:off x="9615297" y="2275999"/>
              <a:ext cx="1484757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spec/page/fixture/data</a:t>
              </a:r>
              <a:b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骨架 + testid 快照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27"/>
            <p:cNvSpPr/>
            <p:nvPr/>
          </p:nvSpPr>
          <p:spPr>
            <a:xfrm>
              <a:off x="609600" y="2781300"/>
              <a:ext cx="10972800" cy="666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TextBox 28"/>
            <p:cNvSpPr txBox="1"/>
            <p:nvPr/>
          </p:nvSpPr>
          <p:spPr>
            <a:xfrm>
              <a:off x="756666" y="2991802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脚本实现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" name="TextBox 29"/>
            <p:cNvSpPr txBox="1"/>
            <p:nvPr/>
          </p:nvSpPr>
          <p:spPr>
            <a:xfrm>
              <a:off x="2090547" y="294274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填充真实交互、断言、测试数据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" name="TextBox 30"/>
            <p:cNvSpPr txBox="1"/>
            <p:nvPr/>
          </p:nvSpPr>
          <p:spPr>
            <a:xfrm>
              <a:off x="4948238" y="2950845"/>
              <a:ext cx="9810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playwright-test-</a:t>
              </a:r>
              <a:b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implementation</a:t>
              </a:r>
              <a:endParaRPr lang="zh-CN" sz="9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1" name="TextBox 31"/>
            <p:cNvSpPr txBox="1"/>
            <p:nvPr/>
          </p:nvSpPr>
          <p:spPr>
            <a:xfrm>
              <a:off x="8091297" y="2999899"/>
              <a:ext cx="1278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+ 人（审核硬性）</a:t>
              </a:r>
              <a:endPara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TextBox 32"/>
            <p:cNvSpPr txBox="1"/>
            <p:nvPr/>
          </p:nvSpPr>
          <p:spPr>
            <a:xfrm>
              <a:off x="9615297" y="2942749"/>
              <a:ext cx="899795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可执行的</a:t>
              </a:r>
              <a:b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ATS-*.spec.ts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3" name="Rectangle 33"/>
            <p:cNvSpPr/>
            <p:nvPr/>
          </p:nvSpPr>
          <p:spPr>
            <a:xfrm>
              <a:off x="609600" y="3448050"/>
              <a:ext cx="10972800" cy="666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104" name="TextBox 34"/>
            <p:cNvSpPr txBox="1"/>
            <p:nvPr/>
          </p:nvSpPr>
          <p:spPr>
            <a:xfrm>
              <a:off x="756666" y="3658552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执行回归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5" name="TextBox 35"/>
            <p:cNvSpPr txBox="1"/>
            <p:nvPr/>
          </p:nvSpPr>
          <p:spPr>
            <a:xfrm>
              <a:off x="2090547" y="36094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确定性执行测试用例，自动出报告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" name="TextBox 36"/>
            <p:cNvSpPr txBox="1"/>
            <p:nvPr/>
          </p:nvSpPr>
          <p:spPr>
            <a:xfrm>
              <a:off x="4948238" y="3617595"/>
              <a:ext cx="9810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playwright-test-</a:t>
              </a:r>
              <a:b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implementation</a:t>
              </a:r>
              <a:endParaRPr lang="zh-CN" sz="9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7" name="TextBox 37"/>
            <p:cNvSpPr txBox="1"/>
            <p:nvPr/>
          </p:nvSpPr>
          <p:spPr>
            <a:xfrm>
              <a:off x="8091297" y="3666649"/>
              <a:ext cx="1397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Playwright（确定性）</a:t>
              </a:r>
              <a:endParaRPr lang="zh-CN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" name="TextBox 38"/>
            <p:cNvSpPr txBox="1"/>
            <p:nvPr/>
          </p:nvSpPr>
          <p:spPr>
            <a:xfrm>
              <a:off x="9615297" y="3666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测试报告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9" name="Rectangle 39"/>
            <p:cNvSpPr/>
            <p:nvPr/>
          </p:nvSpPr>
          <p:spPr>
            <a:xfrm>
              <a:off x="609600" y="4114800"/>
              <a:ext cx="10972800" cy="666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0" name="TextBox 40"/>
            <p:cNvSpPr txBox="1"/>
            <p:nvPr/>
          </p:nvSpPr>
          <p:spPr>
            <a:xfrm>
              <a:off x="756666" y="4325302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失败分析与回填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1" name="TextBox 41"/>
            <p:cNvSpPr txBox="1"/>
            <p:nvPr/>
          </p:nvSpPr>
          <p:spPr>
            <a:xfrm>
              <a:off x="2090547" y="4276249"/>
              <a:ext cx="1957705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失败归因（缺陷/脚本/环境/数据）</a:t>
              </a:r>
              <a:b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更新测试报告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2" name="TextBox 42"/>
            <p:cNvSpPr txBox="1"/>
            <p:nvPr/>
          </p:nvSpPr>
          <p:spPr>
            <a:xfrm>
              <a:off x="4948238" y="4284345"/>
              <a:ext cx="9810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playwright-test-</a:t>
              </a:r>
              <a:b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9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implementation</a:t>
              </a:r>
              <a:endParaRPr lang="zh-CN" sz="9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3" name="TextBox 43"/>
            <p:cNvSpPr txBox="1"/>
            <p:nvPr/>
          </p:nvSpPr>
          <p:spPr>
            <a:xfrm>
              <a:off x="8091297" y="4333399"/>
              <a:ext cx="10274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建议 + 人确认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4" name="TextBox 44"/>
            <p:cNvSpPr txBox="1"/>
            <p:nvPr/>
          </p:nvSpPr>
          <p:spPr>
            <a:xfrm>
              <a:off x="9615297" y="4276249"/>
              <a:ext cx="962025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失败分类 +</a:t>
              </a:r>
              <a:b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04-测试报告文档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5" name="Group 50"/>
          <p:cNvGrpSpPr/>
          <p:nvPr/>
        </p:nvGrpSpPr>
        <p:grpSpPr>
          <a:xfrm>
            <a:off x="609600" y="4914900"/>
            <a:ext cx="5334000" cy="1238250"/>
            <a:chOff x="609600" y="4914900"/>
            <a:chExt cx="5334000" cy="1238250"/>
          </a:xfrm>
        </p:grpSpPr>
        <p:sp>
          <p:nvSpPr>
            <p:cNvPr id="116" name="Rectangle 46"/>
            <p:cNvSpPr/>
            <p:nvPr/>
          </p:nvSpPr>
          <p:spPr>
            <a:xfrm>
              <a:off x="609600" y="4914900"/>
              <a:ext cx="5334000" cy="1238250"/>
            </a:xfrm>
            <a:prstGeom prst="roundRect">
              <a:avLst>
                <a:gd name="adj" fmla="val 615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7" name="TextBox 47"/>
            <p:cNvSpPr txBox="1"/>
            <p:nvPr/>
          </p:nvSpPr>
          <p:spPr>
            <a:xfrm>
              <a:off x="832104" y="5090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贯穿全程的支撑技能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8" name="TextBox 48"/>
            <p:cNvSpPr txBox="1"/>
            <p:nvPr/>
          </p:nvSpPr>
          <p:spPr>
            <a:xfrm>
              <a:off x="833247" y="5419249"/>
              <a:ext cx="3083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测试数据：test-data-preparation，测试数据准备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9" name="TextBox 49"/>
            <p:cNvSpPr txBox="1"/>
            <p:nvPr/>
          </p:nvSpPr>
          <p:spPr>
            <a:xfrm>
              <a:off x="833247" y="5704999"/>
              <a:ext cx="394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版本管理：version-archive / version-release，归档回写 + 封版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0" name="Group 55"/>
          <p:cNvGrpSpPr/>
          <p:nvPr/>
        </p:nvGrpSpPr>
        <p:grpSpPr>
          <a:xfrm>
            <a:off x="6248400" y="4914900"/>
            <a:ext cx="5334000" cy="1238250"/>
            <a:chOff x="6248400" y="4914900"/>
            <a:chExt cx="5334000" cy="1238250"/>
          </a:xfrm>
        </p:grpSpPr>
        <p:sp>
          <p:nvSpPr>
            <p:cNvPr id="121" name="Rectangle 51"/>
            <p:cNvSpPr/>
            <p:nvPr/>
          </p:nvSpPr>
          <p:spPr>
            <a:xfrm>
              <a:off x="6248400" y="4914900"/>
              <a:ext cx="5334000" cy="1238250"/>
            </a:xfrm>
            <a:prstGeom prst="roundRect">
              <a:avLst>
                <a:gd name="adj" fmla="val 6154"/>
              </a:avLst>
            </a:prstGeom>
            <a:solidFill>
              <a:schemeClr val="lt1"/>
            </a:solidFill>
            <a:ln w="9525">
              <a:solidFill>
                <a:srgbClr val="595959"/>
              </a:solidFill>
            </a:ln>
          </p:spPr>
        </p:sp>
        <p:sp>
          <p:nvSpPr>
            <p:cNvPr id="122" name="TextBox 52"/>
            <p:cNvSpPr txBox="1"/>
            <p:nvPr/>
          </p:nvSpPr>
          <p:spPr>
            <a:xfrm>
              <a:off x="6470904" y="5090160"/>
              <a:ext cx="1242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的定位：副驾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" name="TextBox 53"/>
            <p:cNvSpPr txBox="1"/>
            <p:nvPr/>
          </p:nvSpPr>
          <p:spPr>
            <a:xfrm>
              <a:off x="6472047" y="5400199"/>
              <a:ext cx="2994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可做：解析需求 / 生成骨架 / 分析失败 / 回填建议</a:t>
              </a:r>
              <a:endParaRPr lang="zh-CN" sz="9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4" name="TextBox 54"/>
            <p:cNvSpPr txBox="1"/>
            <p:nvPr/>
          </p:nvSpPr>
          <p:spPr>
            <a:xfrm>
              <a:off x="6472047" y="5666899"/>
              <a:ext cx="3098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不可做：未经审核改主干 / 无依据加断言 / 跳过失败</a:t>
              </a:r>
              <a:endPara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5" name="TextBox 56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 / 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2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13"/>
          <p:cNvGrpSpPr/>
          <p:nvPr/>
        </p:nvGrpSpPr>
        <p:grpSpPr>
          <a:xfrm>
            <a:off x="609600" y="454342"/>
            <a:ext cx="6498717" cy="438150"/>
            <a:chOff x="609600" y="454342"/>
            <a:chExt cx="6498717" cy="438150"/>
          </a:xfrm>
        </p:grpSpPr>
        <p:sp>
          <p:nvSpPr>
            <p:cNvPr id="52" name="Rectangle 11"/>
            <p:cNvSpPr/>
            <p:nvPr/>
          </p:nvSpPr>
          <p:spPr>
            <a:xfrm>
              <a:off x="609600" y="4572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12"/>
            <p:cNvSpPr txBox="1"/>
            <p:nvPr/>
          </p:nvSpPr>
          <p:spPr>
            <a:xfrm>
              <a:off x="861822" y="454342"/>
              <a:ext cx="624649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协同方案设计：协作载体 + 结构化目录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20"/>
          <p:cNvGrpSpPr/>
          <p:nvPr/>
        </p:nvGrpSpPr>
        <p:grpSpPr>
          <a:xfrm>
            <a:off x="609600" y="1066800"/>
            <a:ext cx="4953000" cy="1107757"/>
            <a:chOff x="609600" y="1066800"/>
            <a:chExt cx="4953000" cy="1107757"/>
          </a:xfrm>
        </p:grpSpPr>
        <p:sp>
          <p:nvSpPr>
            <p:cNvPr id="55" name="Rectangle 14"/>
            <p:cNvSpPr/>
            <p:nvPr/>
          </p:nvSpPr>
          <p:spPr>
            <a:xfrm>
              <a:off x="609600" y="1066800"/>
              <a:ext cx="4953000" cy="1085850"/>
            </a:xfrm>
            <a:prstGeom prst="roundRect">
              <a:avLst>
                <a:gd name="adj" fmla="val 701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6" name="TextBox 15"/>
            <p:cNvSpPr txBox="1"/>
            <p:nvPr/>
          </p:nvSpPr>
          <p:spPr>
            <a:xfrm>
              <a:off x="832104" y="1203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协作载体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16"/>
            <p:cNvSpPr txBox="1"/>
            <p:nvPr/>
          </p:nvSpPr>
          <p:spPr>
            <a:xfrm>
              <a:off x="832485" y="1459706"/>
              <a:ext cx="3312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TRAE / qOder / 其他支持 AI 的 IDE + Git 仓库</a:t>
              </a:r>
              <a:endParaRPr lang="zh-CN" sz="11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17"/>
            <p:cNvSpPr txBox="1"/>
            <p:nvPr/>
          </p:nvSpPr>
          <p:spPr>
            <a:xfrm>
              <a:off x="833438" y="1693545"/>
              <a:ext cx="2538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需求、开发、测试同一工作区，Git 持续留痕</a:t>
              </a:r>
              <a:endPara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18"/>
            <p:cNvSpPr txBox="1"/>
            <p:nvPr/>
          </p:nvSpPr>
          <p:spPr>
            <a:xfrm>
              <a:off x="833438" y="1845945"/>
              <a:ext cx="26812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多仓兼容：前端/后端/测试独立仓 + 系统治理仓</a:t>
              </a:r>
              <a:endPara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19"/>
            <p:cNvSpPr txBox="1"/>
            <p:nvPr/>
          </p:nvSpPr>
          <p:spPr>
            <a:xfrm>
              <a:off x="833438" y="1998345"/>
              <a:ext cx="20461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marL="97155" indent="-9715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 AI：统一工作区形成稳定上下文</a:t>
              </a:r>
              <a:endPara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" name="Group 25"/>
          <p:cNvGrpSpPr/>
          <p:nvPr/>
        </p:nvGrpSpPr>
        <p:grpSpPr>
          <a:xfrm>
            <a:off x="609600" y="2247900"/>
            <a:ext cx="4953000" cy="571500"/>
            <a:chOff x="609600" y="2247900"/>
            <a:chExt cx="4953000" cy="571500"/>
          </a:xfrm>
        </p:grpSpPr>
        <p:sp>
          <p:nvSpPr>
            <p:cNvPr id="62" name="Rectangle 21"/>
            <p:cNvSpPr/>
            <p:nvPr/>
          </p:nvSpPr>
          <p:spPr>
            <a:xfrm>
              <a:off x="609600" y="2247900"/>
              <a:ext cx="4953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63" name="Rectangle 22"/>
            <p:cNvSpPr/>
            <p:nvPr/>
          </p:nvSpPr>
          <p:spPr>
            <a:xfrm>
              <a:off x="609600" y="2247900"/>
              <a:ext cx="762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23"/>
            <p:cNvSpPr txBox="1"/>
            <p:nvPr/>
          </p:nvSpPr>
          <p:spPr>
            <a:xfrm>
              <a:off x="870204" y="2366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双主线治理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24"/>
            <p:cNvSpPr txBox="1"/>
            <p:nvPr/>
          </p:nvSpPr>
          <p:spPr>
            <a:xfrm>
              <a:off x="871347" y="2599849"/>
              <a:ext cx="34598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目录路径主线（模块归属） + 功能点编号主线（具体追踪）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30"/>
          <p:cNvGrpSpPr/>
          <p:nvPr/>
        </p:nvGrpSpPr>
        <p:grpSpPr>
          <a:xfrm>
            <a:off x="609600" y="2914650"/>
            <a:ext cx="4953000" cy="571500"/>
            <a:chOff x="609600" y="2914650"/>
            <a:chExt cx="4953000" cy="571500"/>
          </a:xfrm>
        </p:grpSpPr>
        <p:sp>
          <p:nvSpPr>
            <p:cNvPr id="67" name="Rectangle 26"/>
            <p:cNvSpPr/>
            <p:nvPr/>
          </p:nvSpPr>
          <p:spPr>
            <a:xfrm>
              <a:off x="609600" y="2914650"/>
              <a:ext cx="4953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68" name="Rectangle 27"/>
            <p:cNvSpPr/>
            <p:nvPr/>
          </p:nvSpPr>
          <p:spPr>
            <a:xfrm>
              <a:off x="609600" y="2914650"/>
              <a:ext cx="762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9" name="TextBox 28"/>
            <p:cNvSpPr txBox="1"/>
            <p:nvPr/>
          </p:nvSpPr>
          <p:spPr>
            <a:xfrm>
              <a:off x="870204" y="3032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统一模板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29"/>
            <p:cNvSpPr txBox="1"/>
            <p:nvPr/>
          </p:nvSpPr>
          <p:spPr>
            <a:xfrm>
              <a:off x="871347" y="3266599"/>
              <a:ext cx="2498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01/02/03 文档结构对齐，AI 可稳定消费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1" name="Group 43"/>
          <p:cNvGrpSpPr/>
          <p:nvPr/>
        </p:nvGrpSpPr>
        <p:grpSpPr>
          <a:xfrm>
            <a:off x="609600" y="3581400"/>
            <a:ext cx="4953000" cy="1619250"/>
            <a:chOff x="609600" y="3581400"/>
            <a:chExt cx="4953000" cy="1619250"/>
          </a:xfrm>
        </p:grpSpPr>
        <p:sp>
          <p:nvSpPr>
            <p:cNvPr id="72" name="Rectangle 31"/>
            <p:cNvSpPr/>
            <p:nvPr/>
          </p:nvSpPr>
          <p:spPr>
            <a:xfrm>
              <a:off x="609600" y="3581400"/>
              <a:ext cx="4953000" cy="1619250"/>
            </a:xfrm>
            <a:prstGeom prst="roundRect">
              <a:avLst>
                <a:gd name="adj" fmla="val 4706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73" name="Rectangle 32"/>
            <p:cNvSpPr/>
            <p:nvPr/>
          </p:nvSpPr>
          <p:spPr>
            <a:xfrm>
              <a:off x="609600" y="3581400"/>
              <a:ext cx="762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33"/>
            <p:cNvSpPr txBox="1"/>
            <p:nvPr/>
          </p:nvSpPr>
          <p:spPr>
            <a:xfrm>
              <a:off x="870204" y="3718560"/>
              <a:ext cx="2616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REQ 统一主键：编号自带模块信息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34"/>
            <p:cNvSpPr txBox="1"/>
            <p:nvPr/>
          </p:nvSpPr>
          <p:spPr>
            <a:xfrm>
              <a:off x="869442" y="4026218"/>
              <a:ext cx="2901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REQ-</a:t>
              </a:r>
              <a:r>
                <a:rPr lang="zh-CN" sz="13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CONFIG</a:t>
              </a:r>
              <a:r>
                <a:rPr lang="zh-CN" sz="1350" b="1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-</a:t>
              </a:r>
              <a:r>
                <a:rPr lang="zh-CN" sz="13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BILLCFG</a:t>
              </a:r>
              <a:r>
                <a:rPr lang="zh-CN" sz="1350" b="1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-</a:t>
              </a:r>
              <a:r>
                <a:rPr lang="zh-CN" sz="13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LIST</a:t>
              </a:r>
              <a:r>
                <a:rPr lang="zh-CN" sz="1350" b="1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-</a:t>
              </a:r>
              <a:r>
                <a:rPr lang="zh-CN" sz="13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001</a:t>
              </a:r>
              <a:endParaRPr lang="zh-CN" sz="13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6" name="Rectangle 35"/>
            <p:cNvSpPr/>
            <p:nvPr/>
          </p:nvSpPr>
          <p:spPr>
            <a:xfrm>
              <a:off x="895350" y="434340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TextBox 36"/>
            <p:cNvSpPr txBox="1"/>
            <p:nvPr/>
          </p:nvSpPr>
          <p:spPr>
            <a:xfrm>
              <a:off x="1061847" y="4333399"/>
              <a:ext cx="1877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CONFIG → 一级模块：配置中心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Rectangle 37"/>
            <p:cNvSpPr/>
            <p:nvPr/>
          </p:nvSpPr>
          <p:spPr>
            <a:xfrm>
              <a:off x="895350" y="45529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TextBox 38"/>
            <p:cNvSpPr txBox="1"/>
            <p:nvPr/>
          </p:nvSpPr>
          <p:spPr>
            <a:xfrm>
              <a:off x="1061847" y="4542949"/>
              <a:ext cx="23447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BILLCFG → 二级模块：商业化计费配置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Rectangle 39"/>
            <p:cNvSpPr/>
            <p:nvPr/>
          </p:nvSpPr>
          <p:spPr>
            <a:xfrm>
              <a:off x="895350" y="476250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1" name="TextBox 40"/>
            <p:cNvSpPr txBox="1"/>
            <p:nvPr/>
          </p:nvSpPr>
          <p:spPr>
            <a:xfrm>
              <a:off x="1061847" y="4752499"/>
              <a:ext cx="1417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LIST → 功能区域：列表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Rectangle 41"/>
            <p:cNvSpPr/>
            <p:nvPr/>
          </p:nvSpPr>
          <p:spPr>
            <a:xfrm>
              <a:off x="895350" y="4972050"/>
              <a:ext cx="95250" cy="952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3" name="TextBox 42"/>
            <p:cNvSpPr txBox="1"/>
            <p:nvPr/>
          </p:nvSpPr>
          <p:spPr>
            <a:xfrm>
              <a:off x="1061847" y="496204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001 → 功能点序号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48"/>
          <p:cNvGrpSpPr/>
          <p:nvPr/>
        </p:nvGrpSpPr>
        <p:grpSpPr>
          <a:xfrm>
            <a:off x="609600" y="5295900"/>
            <a:ext cx="4953000" cy="542639"/>
            <a:chOff x="609600" y="5295900"/>
            <a:chExt cx="4953000" cy="542639"/>
          </a:xfrm>
        </p:grpSpPr>
        <p:sp>
          <p:nvSpPr>
            <p:cNvPr id="85" name="Rectangle 44"/>
            <p:cNvSpPr/>
            <p:nvPr/>
          </p:nvSpPr>
          <p:spPr>
            <a:xfrm>
              <a:off x="609600" y="5295900"/>
              <a:ext cx="495300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86" name="Rectangle 45"/>
            <p:cNvSpPr/>
            <p:nvPr/>
          </p:nvSpPr>
          <p:spPr>
            <a:xfrm>
              <a:off x="609600" y="5295900"/>
              <a:ext cx="762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7" name="TextBox 46"/>
            <p:cNvSpPr txBox="1"/>
            <p:nvPr/>
          </p:nvSpPr>
          <p:spPr>
            <a:xfrm>
              <a:off x="870204" y="5414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结构化目录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47"/>
            <p:cNvSpPr txBox="1"/>
            <p:nvPr/>
          </p:nvSpPr>
          <p:spPr>
            <a:xfrm>
              <a:off x="871347" y="5647849"/>
              <a:ext cx="21974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Prds/ 目录 + 文件名 + 编号三位一体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9" name="Group 51"/>
          <p:cNvGrpSpPr/>
          <p:nvPr/>
        </p:nvGrpSpPr>
        <p:grpSpPr>
          <a:xfrm>
            <a:off x="5829300" y="1028700"/>
            <a:ext cx="5791200" cy="3943350"/>
            <a:chOff x="5829300" y="1028700"/>
            <a:chExt cx="5791200" cy="3943350"/>
          </a:xfrm>
        </p:grpSpPr>
        <p:sp>
          <p:nvSpPr>
            <p:cNvPr id="90" name="Rectangle 49"/>
            <p:cNvSpPr/>
            <p:nvPr/>
          </p:nvSpPr>
          <p:spPr>
            <a:xfrm>
              <a:off x="5829300" y="1028700"/>
              <a:ext cx="5791200" cy="3943350"/>
            </a:xfrm>
            <a:prstGeom prst="roundRect">
              <a:avLst>
                <a:gd name="adj" fmla="val 966"/>
              </a:avLst>
            </a:prstGeom>
            <a:solidFill>
              <a:schemeClr val="lt1"/>
            </a:solidFill>
            <a:ln w="19050">
              <a:solidFill>
                <a:srgbClr val="DAEAF8"/>
              </a:solidFill>
            </a:ln>
          </p:spPr>
        </p:sp>
        <p:pic>
          <p:nvPicPr>
            <p:cNvPr id="91" name="Image 5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58525" y="1066800"/>
              <a:ext cx="5132750" cy="3829050"/>
            </a:xfrm>
            <a:prstGeom prst="rect">
              <a:avLst/>
            </a:prstGeom>
          </p:spPr>
        </p:pic>
      </p:grpSp>
      <p:grpSp>
        <p:nvGrpSpPr>
          <p:cNvPr id="92" name="Group 53"/>
          <p:cNvGrpSpPr/>
          <p:nvPr/>
        </p:nvGrpSpPr>
        <p:grpSpPr>
          <a:xfrm>
            <a:off x="6321489" y="5201602"/>
            <a:ext cx="4806823" cy="205359"/>
            <a:chOff x="6321489" y="5201602"/>
            <a:chExt cx="4806823" cy="205359"/>
          </a:xfrm>
        </p:grpSpPr>
        <p:sp>
          <p:nvSpPr>
            <p:cNvPr id="93" name="TextBox 52"/>
            <p:cNvSpPr txBox="1"/>
            <p:nvPr/>
          </p:nvSpPr>
          <p:spPr>
            <a:xfrm>
              <a:off x="6321489" y="5201602"/>
              <a:ext cx="4806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项目实景：Prds/ 目录 + 需求到测试交付链路（omics-doc 项目 README）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4" name="Group 57"/>
          <p:cNvGrpSpPr/>
          <p:nvPr/>
        </p:nvGrpSpPr>
        <p:grpSpPr>
          <a:xfrm>
            <a:off x="5867400" y="5448300"/>
            <a:ext cx="5715000" cy="800100"/>
            <a:chOff x="5867400" y="5448300"/>
            <a:chExt cx="5715000" cy="800100"/>
          </a:xfrm>
        </p:grpSpPr>
        <p:sp>
          <p:nvSpPr>
            <p:cNvPr id="95" name="Rectangle 54"/>
            <p:cNvSpPr/>
            <p:nvPr/>
          </p:nvSpPr>
          <p:spPr>
            <a:xfrm>
              <a:off x="5867400" y="5448300"/>
              <a:ext cx="5715000" cy="80010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6" name="TextBox 55"/>
            <p:cNvSpPr txBox="1"/>
            <p:nvPr/>
          </p:nvSpPr>
          <p:spPr>
            <a:xfrm>
              <a:off x="7699633" y="566451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结构化目录 = 天然可检索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TextBox 56"/>
            <p:cNvSpPr txBox="1"/>
            <p:nvPr/>
          </p:nvSpPr>
          <p:spPr>
            <a:xfrm>
              <a:off x="7460980" y="5963602"/>
              <a:ext cx="2527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顺带解决 Ones 不支持 RAG 问答的问题</a:t>
              </a:r>
              <a:endParaRPr lang="zh-CN" sz="105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8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99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0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1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02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3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05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6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609600" y="797242"/>
            <a:ext cx="5581955" cy="557403"/>
            <a:chOff x="609600" y="797242"/>
            <a:chExt cx="5581955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8001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7972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小结：三大支撑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92118" y="926782"/>
              <a:ext cx="21994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知识库 + AI 提效就绪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714500"/>
            <a:ext cx="3505200" cy="2857500"/>
            <a:chOff x="609600" y="1714500"/>
            <a:chExt cx="3505200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3505200" cy="285750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35052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818" y="210788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需求文档（01）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294" y="25517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覆盖度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3070860"/>
              <a:ext cx="175717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测试点从 REQ 全量派生，</a:t>
              </a:r>
              <a:b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功能点不漏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43400" y="1714500"/>
            <a:ext cx="3505200" cy="2857500"/>
            <a:chOff x="4343400" y="1714500"/>
            <a:chExt cx="35052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4343400" y="1714500"/>
              <a:ext cx="3505200" cy="285750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43400" y="1714500"/>
              <a:ext cx="35052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3618" y="210788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详细设计（02）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2094" y="25517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准确度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5904" y="3070860"/>
              <a:ext cx="1536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断言的预期值、文案、</a:t>
              </a:r>
              <a:b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定位有结构化依据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77200" y="1714500"/>
            <a:ext cx="3505200" cy="2857500"/>
            <a:chOff x="8077200" y="1714500"/>
            <a:chExt cx="35052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8077200" y="1714500"/>
              <a:ext cx="3505200" cy="285750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77200" y="1714500"/>
              <a:ext cx="35052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7418" y="2107882"/>
              <a:ext cx="854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IDE + AI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5894" y="255174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提效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9704" y="3070860"/>
              <a:ext cx="15361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文档、脚本、失败分析</a:t>
              </a:r>
              <a:b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全链路 AI 辅助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5143500"/>
            <a:ext cx="10972800" cy="762000"/>
            <a:chOff x="609600" y="5143500"/>
            <a:chExt cx="10972800" cy="762000"/>
          </a:xfrm>
        </p:grpSpPr>
        <p:sp>
          <p:nvSpPr>
            <p:cNvPr id="24" name="Rectangle 24"/>
            <p:cNvSpPr/>
            <p:nvPr/>
          </p:nvSpPr>
          <p:spPr>
            <a:xfrm>
              <a:off x="609600" y="5143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66388" y="52892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三大支撑就绪，还缺一个稳定高效的执行引擎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84639" y="5623560"/>
              <a:ext cx="2822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20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—— 这就是接下来要讲的 Playwright ——</a:t>
              </a:r>
              <a:endParaRPr lang="zh-CN" sz="120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 / 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2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43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6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9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0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13"/>
          <p:cNvGrpSpPr/>
          <p:nvPr/>
        </p:nvGrpSpPr>
        <p:grpSpPr>
          <a:xfrm>
            <a:off x="609600" y="568642"/>
            <a:ext cx="7017922" cy="557403"/>
            <a:chOff x="609600" y="568642"/>
            <a:chExt cx="7017922" cy="557403"/>
          </a:xfrm>
        </p:grpSpPr>
        <p:sp>
          <p:nvSpPr>
            <p:cNvPr id="52" name="Rectangle 11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12"/>
            <p:cNvSpPr txBox="1"/>
            <p:nvPr/>
          </p:nvSpPr>
          <p:spPr>
            <a:xfrm>
              <a:off x="861822" y="568642"/>
              <a:ext cx="67657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Playwright：新一代浏览器自动化框架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22"/>
          <p:cNvGrpSpPr/>
          <p:nvPr/>
        </p:nvGrpSpPr>
        <p:grpSpPr>
          <a:xfrm>
            <a:off x="609600" y="1181100"/>
            <a:ext cx="5334000" cy="1866900"/>
            <a:chOff x="609600" y="1181100"/>
            <a:chExt cx="5334000" cy="1866900"/>
          </a:xfrm>
        </p:grpSpPr>
        <p:sp>
          <p:nvSpPr>
            <p:cNvPr id="55" name="Rectangle 14"/>
            <p:cNvSpPr/>
            <p:nvPr/>
          </p:nvSpPr>
          <p:spPr>
            <a:xfrm>
              <a:off x="609600" y="1181100"/>
              <a:ext cx="5334000" cy="1866900"/>
            </a:xfrm>
            <a:prstGeom prst="roundRect">
              <a:avLst>
                <a:gd name="adj" fmla="val 40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6" name="Ellipse 15"/>
            <p:cNvSpPr/>
            <p:nvPr/>
          </p:nvSpPr>
          <p:spPr>
            <a:xfrm>
              <a:off x="914400" y="1409700"/>
              <a:ext cx="609600" cy="6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57" name="Group 19"/>
            <p:cNvGrpSpPr/>
            <p:nvPr/>
          </p:nvGrpSpPr>
          <p:grpSpPr>
            <a:xfrm>
              <a:off x="1123950" y="1619250"/>
              <a:ext cx="190500" cy="190500"/>
              <a:chOff x="1123950" y="1619250"/>
              <a:chExt cx="190500" cy="190500"/>
            </a:xfrm>
          </p:grpSpPr>
          <p:sp>
            <p:nvSpPr>
              <p:cNvPr id="58" name="Freeform 16"/>
              <p:cNvSpPr/>
              <p:nvPr/>
            </p:nvSpPr>
            <p:spPr>
              <a:xfrm>
                <a:off x="1123950" y="1619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1906" y="0"/>
                    </a:moveTo>
                    <a:lnTo>
                      <a:pt x="178594" y="0"/>
                    </a:lnTo>
                    <a:cubicBezTo>
                      <a:pt x="185169" y="0"/>
                      <a:pt x="190500" y="5331"/>
                      <a:pt x="190500" y="11906"/>
                    </a:cubicBezTo>
                    <a:lnTo>
                      <a:pt x="190500" y="178594"/>
                    </a:lnTo>
                    <a:cubicBezTo>
                      <a:pt x="190500" y="185169"/>
                      <a:pt x="185169" y="190500"/>
                      <a:pt x="178594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59" name="Freeform 17"/>
              <p:cNvSpPr/>
              <p:nvPr/>
            </p:nvSpPr>
            <p:spPr>
              <a:xfrm>
                <a:off x="1123950" y="1666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60" name="Freeform 18"/>
              <p:cNvSpPr/>
              <p:nvPr/>
            </p:nvSpPr>
            <p:spPr>
              <a:xfrm>
                <a:off x="1171575" y="16192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61" name="TextBox 20"/>
            <p:cNvSpPr txBox="1"/>
            <p:nvPr/>
          </p:nvSpPr>
          <p:spPr>
            <a:xfrm>
              <a:off x="1783080" y="1628775"/>
              <a:ext cx="2922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新一代框架（E2E）· 开箱即用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21"/>
            <p:cNvSpPr txBox="1"/>
            <p:nvPr/>
          </p:nvSpPr>
          <p:spPr>
            <a:xfrm>
              <a:off x="832104" y="2156460"/>
              <a:ext cx="35554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微软 2020 年发布，原生支持 Chromium / Firefox /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WebKit 三浏览器，一套 API 全覆盖，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不需要为多浏览器写多套脚本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28"/>
          <p:cNvGrpSpPr/>
          <p:nvPr/>
        </p:nvGrpSpPr>
        <p:grpSpPr>
          <a:xfrm>
            <a:off x="6248400" y="1181100"/>
            <a:ext cx="5334000" cy="1866900"/>
            <a:chOff x="6248400" y="1181100"/>
            <a:chExt cx="5334000" cy="1866900"/>
          </a:xfrm>
        </p:grpSpPr>
        <p:sp>
          <p:nvSpPr>
            <p:cNvPr id="64" name="Rectangle 23"/>
            <p:cNvSpPr/>
            <p:nvPr/>
          </p:nvSpPr>
          <p:spPr>
            <a:xfrm>
              <a:off x="6248400" y="1181100"/>
              <a:ext cx="5334000" cy="1866900"/>
            </a:xfrm>
            <a:prstGeom prst="roundRect">
              <a:avLst>
                <a:gd name="adj" fmla="val 40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5" name="Ellipse 24"/>
            <p:cNvSpPr/>
            <p:nvPr/>
          </p:nvSpPr>
          <p:spPr>
            <a:xfrm>
              <a:off x="6553200" y="1409700"/>
              <a:ext cx="609600" cy="6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6" name="Freeform 25"/>
            <p:cNvSpPr/>
            <p:nvPr/>
          </p:nvSpPr>
          <p:spPr>
            <a:xfrm>
              <a:off x="6774656" y="1607344"/>
              <a:ext cx="166688" cy="214312"/>
            </a:xfrm>
            <a:custGeom>
              <a:avLst/>
              <a:gdLst/>
              <a:ahLst/>
              <a:cxnLst/>
              <a:rect l="l" t="t" r="r" b="b"/>
              <a:pathLst>
                <a:path w="166688" h="214312">
                  <a:moveTo>
                    <a:pt x="95250" y="0"/>
                  </a:moveTo>
                  <a:lnTo>
                    <a:pt x="95250" y="83344"/>
                  </a:lnTo>
                  <a:lnTo>
                    <a:pt x="166688" y="83344"/>
                  </a:lnTo>
                  <a:lnTo>
                    <a:pt x="71438" y="214312"/>
                  </a:lnTo>
                  <a:lnTo>
                    <a:pt x="71438" y="130969"/>
                  </a:lnTo>
                  <a:lnTo>
                    <a:pt x="0" y="130969"/>
                  </a:lnTo>
                  <a:lnTo>
                    <a:pt x="95250" y="0"/>
                  </a:lnTo>
                </a:path>
              </a:pathLst>
            </a:custGeom>
            <a:noFill/>
            <a:ln w="21431" cap="rnd">
              <a:solidFill>
                <a:schemeClr val="accent1"/>
              </a:solidFill>
              <a:round/>
            </a:ln>
          </p:spPr>
        </p:sp>
        <p:sp>
          <p:nvSpPr>
            <p:cNvPr id="67" name="TextBox 26"/>
            <p:cNvSpPr txBox="1"/>
            <p:nvPr/>
          </p:nvSpPr>
          <p:spPr>
            <a:xfrm>
              <a:off x="7421880" y="1628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自动等待，天生稳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27"/>
            <p:cNvSpPr txBox="1"/>
            <p:nvPr/>
          </p:nvSpPr>
          <p:spPr>
            <a:xfrm>
              <a:off x="6470904" y="2156460"/>
              <a:ext cx="30754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操作前自动检查元素状态——可见、尺寸稳定、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可交互才执行；不用手写 sleep 轮询，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flaky 用例天然就少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Group 34"/>
          <p:cNvGrpSpPr/>
          <p:nvPr/>
        </p:nvGrpSpPr>
        <p:grpSpPr>
          <a:xfrm>
            <a:off x="609600" y="3162300"/>
            <a:ext cx="5334000" cy="1866900"/>
            <a:chOff x="609600" y="3162300"/>
            <a:chExt cx="5334000" cy="1866900"/>
          </a:xfrm>
        </p:grpSpPr>
        <p:sp>
          <p:nvSpPr>
            <p:cNvPr id="70" name="Rectangle 29"/>
            <p:cNvSpPr/>
            <p:nvPr/>
          </p:nvSpPr>
          <p:spPr>
            <a:xfrm>
              <a:off x="609600" y="3162300"/>
              <a:ext cx="5334000" cy="1866900"/>
            </a:xfrm>
            <a:prstGeom prst="roundRect">
              <a:avLst>
                <a:gd name="adj" fmla="val 40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1" name="Ellipse 30"/>
            <p:cNvSpPr/>
            <p:nvPr/>
          </p:nvSpPr>
          <p:spPr>
            <a:xfrm>
              <a:off x="914400" y="3390900"/>
              <a:ext cx="609600" cy="6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2" name="Freeform 31"/>
            <p:cNvSpPr/>
            <p:nvPr/>
          </p:nvSpPr>
          <p:spPr>
            <a:xfrm>
              <a:off x="1159669" y="3612356"/>
              <a:ext cx="142875" cy="166688"/>
            </a:xfrm>
            <a:custGeom>
              <a:avLst/>
              <a:gdLst/>
              <a:ahLst/>
              <a:cxnLst/>
              <a:rect l="l" t="t" r="r" b="b"/>
              <a:pathLst>
                <a:path w="142875" h="166688">
                  <a:moveTo>
                    <a:pt x="0" y="0"/>
                  </a:moveTo>
                  <a:lnTo>
                    <a:pt x="0" y="166688"/>
                  </a:lnTo>
                  <a:lnTo>
                    <a:pt x="142875" y="83344"/>
                  </a:lnTo>
                  <a:close/>
                </a:path>
              </a:pathLst>
            </a:custGeom>
            <a:noFill/>
            <a:ln w="21431" cap="rnd">
              <a:solidFill>
                <a:schemeClr val="accent1"/>
              </a:solidFill>
              <a:round/>
            </a:ln>
          </p:spPr>
        </p:sp>
        <p:sp>
          <p:nvSpPr>
            <p:cNvPr id="73" name="TextBox 32"/>
            <p:cNvSpPr txBox="1"/>
            <p:nvPr/>
          </p:nvSpPr>
          <p:spPr>
            <a:xfrm>
              <a:off x="1783080" y="36099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失败可回放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33"/>
            <p:cNvSpPr txBox="1"/>
            <p:nvPr/>
          </p:nvSpPr>
          <p:spPr>
            <a:xfrm>
              <a:off x="832104" y="4137660"/>
              <a:ext cx="33040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失败自动留存 trace（每步操作 + 页面快照 +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网络请求），Trace Viewer 逐步回放定位问题，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不用反复复跑猜原因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Group 43"/>
          <p:cNvGrpSpPr/>
          <p:nvPr/>
        </p:nvGrpSpPr>
        <p:grpSpPr>
          <a:xfrm>
            <a:off x="6248400" y="3162300"/>
            <a:ext cx="5334000" cy="1866900"/>
            <a:chOff x="6248400" y="3162300"/>
            <a:chExt cx="5334000" cy="1866900"/>
          </a:xfrm>
        </p:grpSpPr>
        <p:sp>
          <p:nvSpPr>
            <p:cNvPr id="76" name="Rectangle 35"/>
            <p:cNvSpPr/>
            <p:nvPr/>
          </p:nvSpPr>
          <p:spPr>
            <a:xfrm>
              <a:off x="6248400" y="3162300"/>
              <a:ext cx="5334000" cy="1866900"/>
            </a:xfrm>
            <a:prstGeom prst="roundRect">
              <a:avLst>
                <a:gd name="adj" fmla="val 40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7" name="Ellipse 36"/>
            <p:cNvSpPr/>
            <p:nvPr/>
          </p:nvSpPr>
          <p:spPr>
            <a:xfrm>
              <a:off x="6553200" y="3390900"/>
              <a:ext cx="609600" cy="6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78" name="Group 40"/>
            <p:cNvGrpSpPr/>
            <p:nvPr/>
          </p:nvGrpSpPr>
          <p:grpSpPr>
            <a:xfrm>
              <a:off x="6762750" y="3600450"/>
              <a:ext cx="190500" cy="190500"/>
              <a:chOff x="6762750" y="3600450"/>
              <a:chExt cx="190500" cy="190500"/>
            </a:xfrm>
          </p:grpSpPr>
          <p:sp>
            <p:nvSpPr>
              <p:cNvPr id="79" name="Freeform 37"/>
              <p:cNvSpPr/>
              <p:nvPr/>
            </p:nvSpPr>
            <p:spPr>
              <a:xfrm>
                <a:off x="6762750" y="360045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95250" y="0"/>
                    </a:moveTo>
                    <a:lnTo>
                      <a:pt x="0" y="47625"/>
                    </a:lnTo>
                    <a:lnTo>
                      <a:pt x="95250" y="95250"/>
                    </a:lnTo>
                    <a:lnTo>
                      <a:pt x="190500" y="47625"/>
                    </a:lnTo>
                    <a:lnTo>
                      <a:pt x="95250" y="0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80" name="Freeform 38"/>
              <p:cNvSpPr/>
              <p:nvPr/>
            </p:nvSpPr>
            <p:spPr>
              <a:xfrm>
                <a:off x="6762750" y="3695700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95250" y="47625"/>
                    </a:lnTo>
                    <a:lnTo>
                      <a:pt x="190500" y="0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81" name="Freeform 39"/>
              <p:cNvSpPr/>
              <p:nvPr/>
            </p:nvSpPr>
            <p:spPr>
              <a:xfrm>
                <a:off x="6762750" y="3743325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95250" y="47625"/>
                    </a:lnTo>
                    <a:lnTo>
                      <a:pt x="190500" y="0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82" name="TextBox 41"/>
            <p:cNvSpPr txBox="1"/>
            <p:nvPr/>
          </p:nvSpPr>
          <p:spPr>
            <a:xfrm>
              <a:off x="7421880" y="3609975"/>
              <a:ext cx="1361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 与 API 同栈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42"/>
            <p:cNvSpPr txBox="1"/>
            <p:nvPr/>
          </p:nvSpPr>
          <p:spPr>
            <a:xfrm>
              <a:off x="6470904" y="4137660"/>
              <a:ext cx="36926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操作和接口断言可写进同一条用例（共享登录态），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一套 runner、一套断言体系；还能拦截 / mock 接口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——实战里用它验证前端缓存复用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46"/>
          <p:cNvGrpSpPr/>
          <p:nvPr/>
        </p:nvGrpSpPr>
        <p:grpSpPr>
          <a:xfrm>
            <a:off x="609600" y="5295900"/>
            <a:ext cx="10972800" cy="533400"/>
            <a:chOff x="609600" y="5295900"/>
            <a:chExt cx="10972800" cy="533400"/>
          </a:xfrm>
        </p:grpSpPr>
        <p:sp>
          <p:nvSpPr>
            <p:cNvPr id="85" name="Rectangle 44"/>
            <p:cNvSpPr/>
            <p:nvPr/>
          </p:nvSpPr>
          <p:spPr>
            <a:xfrm>
              <a:off x="609600" y="52959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45"/>
            <p:cNvSpPr txBox="1"/>
            <p:nvPr/>
          </p:nvSpPr>
          <p:spPr>
            <a:xfrm>
              <a:off x="4069080" y="54768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接下来是重点：它有两种截然不同的使用方式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68642"/>
            <a:ext cx="9533308" cy="557403"/>
            <a:chOff x="609600" y="568642"/>
            <a:chExt cx="9533308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928108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两种使用方式：playwright-cli vs playwright test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409700"/>
            <a:ext cx="5334000" cy="3810000"/>
            <a:chOff x="609600" y="1409700"/>
            <a:chExt cx="5334000" cy="3810000"/>
          </a:xfrm>
        </p:grpSpPr>
        <p:sp>
          <p:nvSpPr>
            <p:cNvPr id="5" name="Rectangle 5"/>
            <p:cNvSpPr/>
            <p:nvPr/>
          </p:nvSpPr>
          <p:spPr>
            <a:xfrm>
              <a:off x="609600" y="1409700"/>
              <a:ext cx="5334000" cy="3810000"/>
            </a:xfrm>
            <a:prstGeom prst="roundRect">
              <a:avLst>
                <a:gd name="adj" fmla="val 2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09700"/>
              <a:ext cx="5334000" cy="6096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6018" y="1612582"/>
              <a:ext cx="2736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playwright-cli（交互式）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248852"/>
              <a:ext cx="2477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npx playwright 命令行执行，不写脚本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613660"/>
              <a:ext cx="26258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你说「帮我测列表查询」，AI 实时决定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打开哪个页面、点什么、填什么，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边读 DOM 边判断结果对错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304" y="3680460"/>
              <a:ext cx="22219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每一步由 AI 现场决策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判定依据是 DOM 文案精确比对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截图仅留证，不参与判定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472440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42263" y="48587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适合快速摸底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1409700"/>
            <a:ext cx="5334000" cy="3810000"/>
            <a:chOff x="6248400" y="1409700"/>
            <a:chExt cx="5334000" cy="3810000"/>
          </a:xfrm>
        </p:grpSpPr>
        <p:sp>
          <p:nvSpPr>
            <p:cNvPr id="14" name="Rectangle 14"/>
            <p:cNvSpPr/>
            <p:nvPr/>
          </p:nvSpPr>
          <p:spPr>
            <a:xfrm>
              <a:off x="6248400" y="1409700"/>
              <a:ext cx="5334000" cy="3810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48400" y="1409700"/>
              <a:ext cx="5334000" cy="6096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4818" y="1612582"/>
              <a:ext cx="29232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playwright test（脚本化）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866" y="2248852"/>
              <a:ext cx="3121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用 @playwright/test 编写 ATS-*.spec.ts 脚本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104" y="2613660"/>
              <a:ext cx="18867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断言（expect）预先写死，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机器确定性执行，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每次运行结果一致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7104" y="3680460"/>
              <a:ext cx="20391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可复现、可进 CI 作回归门禁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断言一经审核长期有效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后续回归零 Token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53200" y="472440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81063" y="48587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适合长期回归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5505450"/>
            <a:ext cx="10972800" cy="571500"/>
            <a:chOff x="609600" y="5505450"/>
            <a:chExt cx="10972800" cy="571500"/>
          </a:xfrm>
        </p:grpSpPr>
        <p:sp>
          <p:nvSpPr>
            <p:cNvPr id="23" name="Rectangle 23"/>
            <p:cNvSpPr/>
            <p:nvPr/>
          </p:nvSpPr>
          <p:spPr>
            <a:xfrm>
              <a:off x="609600" y="550545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35744" y="5705475"/>
              <a:ext cx="5920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底层引擎一致，差别在「谁做判断」—— AI 是驾驶员，不是眼睛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28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1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4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492442"/>
            <a:ext cx="6803517" cy="557403"/>
            <a:chOff x="609600" y="492442"/>
            <a:chExt cx="6803517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49244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真实数据对比：同一批用例双路线实测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1219200"/>
            <a:ext cx="10972800" cy="4152900"/>
            <a:chOff x="609600" y="1219200"/>
            <a:chExt cx="10972800" cy="4152900"/>
          </a:xfrm>
        </p:grpSpPr>
        <p:sp>
          <p:nvSpPr>
            <p:cNvPr id="5" name="Rectangle 5"/>
            <p:cNvSpPr/>
            <p:nvPr/>
          </p:nvSpPr>
          <p:spPr>
            <a:xfrm>
              <a:off x="609600" y="1219200"/>
              <a:ext cx="22860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4004" y="1394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95600" y="1219200"/>
              <a:ext cx="43434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80004" y="1394460"/>
              <a:ext cx="199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playwright-cli（探索式）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0" y="1219200"/>
              <a:ext cx="43434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3404" y="1394460"/>
              <a:ext cx="2287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playwright test（脚本回归）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714500"/>
              <a:ext cx="10972800" cy="60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4004" y="1946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模式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0004" y="1946910"/>
              <a:ext cx="1744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实时驱动，不写脚本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23404" y="1946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预写断言，机器执行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2324100"/>
              <a:ext cx="10972800" cy="609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4004" y="2556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首次执行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0004" y="255651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~70 分钟（39 例）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3404" y="2556510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 ~120 分钟 + 执行 4 分 42 秒（42 例）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2933700"/>
              <a:ext cx="10972800" cy="60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004" y="3166110"/>
              <a:ext cx="862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消耗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0004" y="3166110"/>
              <a:ext cx="2076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~920K / 每次回归重新消耗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3404" y="3166110"/>
              <a:ext cx="2366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一次性投入 · 后续回归零 Token</a:t>
              </a:r>
              <a:endPara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3543300"/>
              <a:ext cx="10972800" cy="609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4004" y="37757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覆盖度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0004" y="37757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89.7%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4166" y="3791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（主动跳过写操作）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3404" y="37757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81.0%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57566" y="37919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（含写操作，数据污染影响后续）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4152900"/>
              <a:ext cx="10972800" cy="60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4004" y="4385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执行通过率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0004" y="43853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65.7%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3404" y="43853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85.3%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4762500"/>
              <a:ext cx="10972800" cy="6096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4004" y="499491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CI/CD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0004" y="49949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不适合（结果不可复现）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3404" y="49949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适合（可作回归门禁）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559150" y="5601652"/>
            <a:ext cx="5073701" cy="205359"/>
            <a:chOff x="3559150" y="5601652"/>
            <a:chExt cx="5073701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3559150" y="5601652"/>
              <a:ext cx="50737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数据来源：V1.6.1 试点 · 同一批用例双路线实测 · 各有强弱，互补而非互替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1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42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5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8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9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492442"/>
            <a:ext cx="7627442" cy="557403"/>
            <a:chOff x="609600" y="492442"/>
            <a:chExt cx="7627442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492442"/>
              <a:ext cx="737522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优势互补：cli 抓口径缺陷，test 跑全链路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219200"/>
            <a:ext cx="5334000" cy="1257300"/>
            <a:chOff x="609600" y="1219200"/>
            <a:chExt cx="5334000" cy="1257300"/>
          </a:xfrm>
        </p:grpSpPr>
        <p:sp>
          <p:nvSpPr>
            <p:cNvPr id="5" name="Rectangle 5"/>
            <p:cNvSpPr/>
            <p:nvPr/>
          </p:nvSpPr>
          <p:spPr>
            <a:xfrm>
              <a:off x="609600" y="1219200"/>
              <a:ext cx="5334000" cy="1257300"/>
            </a:xfrm>
            <a:prstGeom prst="roundRect">
              <a:avLst>
                <a:gd name="adj" fmla="val 606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1397318"/>
              <a:ext cx="1751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playwright-cli 擅长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8304" y="1718310"/>
              <a:ext cx="32049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文案类真实缺陷（FORM-003 校验提示不符，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test 因断言宽松漏检）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动态适应页面现有数据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48400" y="1219200"/>
            <a:ext cx="5334000" cy="1257300"/>
            <a:chOff x="6248400" y="1219200"/>
            <a:chExt cx="5334000" cy="1257300"/>
          </a:xfrm>
        </p:grpSpPr>
        <p:sp>
          <p:nvSpPr>
            <p:cNvPr id="9" name="Rectangle 9"/>
            <p:cNvSpPr/>
            <p:nvPr/>
          </p:nvSpPr>
          <p:spPr>
            <a:xfrm>
              <a:off x="6248400" y="1219200"/>
              <a:ext cx="5334000" cy="1257300"/>
            </a:xfrm>
            <a:prstGeom prst="roundRect">
              <a:avLst>
                <a:gd name="adj" fmla="val 606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46342" y="139731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playwright test 擅长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47104" y="1718310"/>
              <a:ext cx="274015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写操作用例全链路覆盖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网络层验证（route 拦截缓存复用等）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29540" indent="-129540" algn="l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可复现、可进 CI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2705100"/>
            <a:ext cx="10972800" cy="2628900"/>
            <a:chOff x="609600" y="2705100"/>
            <a:chExt cx="10972800" cy="2628900"/>
          </a:xfrm>
        </p:grpSpPr>
        <p:sp>
          <p:nvSpPr>
            <p:cNvPr id="13" name="Rectangle 13"/>
            <p:cNvSpPr/>
            <p:nvPr/>
          </p:nvSpPr>
          <p:spPr>
            <a:xfrm>
              <a:off x="609600" y="2705100"/>
              <a:ext cx="47625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004" y="2880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72100" y="2705100"/>
              <a:ext cx="20955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56504" y="28803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用哪个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67600" y="2705100"/>
              <a:ext cx="41148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52004" y="2880360"/>
              <a:ext cx="7254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 skill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200400"/>
              <a:ext cx="109728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004" y="339471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首次功能验证 / 发版前摸底 / 缺陷探查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56504" y="3394710"/>
              <a:ext cx="20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52766" y="341090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playwright-cli-testing</a:t>
              </a:r>
              <a:endParaRPr lang="zh-CN" sz="10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3733800"/>
              <a:ext cx="10972800" cy="533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4004" y="3928110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页面探索 / 维护 data-testid 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6504" y="3928110"/>
              <a:ext cx="20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52766" y="394430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playwright-cli-testing</a:t>
              </a:r>
              <a:endParaRPr lang="zh-CN" sz="10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4267200"/>
              <a:ext cx="109728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4004" y="446151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新模块接入 / 生成目录与脚本骨架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56504" y="44615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test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52766" y="4477702"/>
              <a:ext cx="1756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ui-automation-bootstrap</a:t>
              </a:r>
              <a:endParaRPr lang="zh-CN" sz="10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800600"/>
              <a:ext cx="10972800" cy="533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004" y="499491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长期回归 / 版本迭代门禁 / 失败修复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56504" y="49949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test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52766" y="5011102"/>
              <a:ext cx="2251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playwright-test-implementation</a:t>
              </a:r>
              <a:endParaRPr lang="zh-CN" sz="10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676900"/>
            <a:ext cx="10972800" cy="533400"/>
            <a:chOff x="609600" y="5676900"/>
            <a:chExt cx="10972800" cy="533400"/>
          </a:xfrm>
        </p:grpSpPr>
        <p:sp>
          <p:nvSpPr>
            <p:cNvPr id="36" name="Rectangle 36"/>
            <p:cNvSpPr/>
            <p:nvPr/>
          </p:nvSpPr>
          <p:spPr>
            <a:xfrm>
              <a:off x="609600" y="5676900"/>
              <a:ext cx="10972800" cy="53340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24046" y="5857875"/>
              <a:ext cx="2543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cli 先行探路，脚本跟进沉淀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0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41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4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7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68642"/>
            <a:ext cx="4503252" cy="557403"/>
            <a:chOff x="609600" y="568642"/>
            <a:chExt cx="4503252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42510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目录结构 + UI 脚本分层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409700"/>
            <a:ext cx="5905500" cy="4381500"/>
            <a:chOff x="609600" y="1409700"/>
            <a:chExt cx="5905500" cy="4381500"/>
          </a:xfrm>
        </p:grpSpPr>
        <p:sp>
          <p:nvSpPr>
            <p:cNvPr id="5" name="Rectangle 5"/>
            <p:cNvSpPr/>
            <p:nvPr/>
          </p:nvSpPr>
          <p:spPr>
            <a:xfrm>
              <a:off x="609600" y="1409700"/>
              <a:ext cx="5905500" cy="4381500"/>
            </a:xfrm>
            <a:prstGeom prst="roundRect">
              <a:avLst>
                <a:gd name="adj" fmla="val 1739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204" y="1699260"/>
              <a:ext cx="2663952" cy="3377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Tests/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├─ shared/ # 登录态、鉴权、公共能力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└─ ui-automation/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├─ playwright.config.ts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├─ fixtures/ # 登录态、前后置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├─ helpers/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└─ &lt;一级模块&gt;/&lt;二级模块&gt;/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├─ specs/ # ATS-*.spec.ts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├─ pages/ # 页面对象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├─ fixtures/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├─ data/ # 测试数据</a:t>
              </a:r>
              <a:b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</a:br>
              <a:r>
                <a:rPr lang="zh-CN" sz="1200" dirty="0">
                  <a:solidFill>
                    <a:srgbClr val="DAEA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└─ snapshots/</a:t>
              </a:r>
              <a:endParaRPr lang="zh-CN" sz="1200" dirty="0">
                <a:solidFill>
                  <a:srgbClr val="DAEAF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9900" y="1409700"/>
            <a:ext cx="4762500" cy="952500"/>
            <a:chOff x="6819900" y="1409700"/>
            <a:chExt cx="4762500" cy="952500"/>
          </a:xfrm>
        </p:grpSpPr>
        <p:sp>
          <p:nvSpPr>
            <p:cNvPr id="8" name="Rectangle 8"/>
            <p:cNvSpPr/>
            <p:nvPr/>
          </p:nvSpPr>
          <p:spPr>
            <a:xfrm>
              <a:off x="6819900" y="1409700"/>
              <a:ext cx="4762500" cy="95250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17842" y="1606868"/>
              <a:ext cx="643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specs/</a:t>
              </a:r>
              <a:endParaRPr lang="zh-CN" sz="13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8604" y="1927860"/>
              <a:ext cx="279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场景脚本层——面向需求点 / 测试点组织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19900" y="2514600"/>
            <a:ext cx="4762500" cy="952500"/>
            <a:chOff x="6819900" y="2514600"/>
            <a:chExt cx="4762500" cy="952500"/>
          </a:xfrm>
        </p:grpSpPr>
        <p:sp>
          <p:nvSpPr>
            <p:cNvPr id="12" name="Rectangle 12"/>
            <p:cNvSpPr/>
            <p:nvPr/>
          </p:nvSpPr>
          <p:spPr>
            <a:xfrm>
              <a:off x="6819900" y="2514600"/>
              <a:ext cx="4762500" cy="95250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17842" y="2711768"/>
              <a:ext cx="643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pages/</a:t>
              </a:r>
              <a:endParaRPr lang="zh-CN" sz="13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8604" y="3032760"/>
              <a:ext cx="3690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页面对象封装——隔离 UI 变化，一处修改全局生效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19900" y="3619500"/>
            <a:ext cx="4762500" cy="952500"/>
            <a:chOff x="6819900" y="3619500"/>
            <a:chExt cx="4762500" cy="952500"/>
          </a:xfrm>
        </p:grpSpPr>
        <p:sp>
          <p:nvSpPr>
            <p:cNvPr id="16" name="Rectangle 16"/>
            <p:cNvSpPr/>
            <p:nvPr/>
          </p:nvSpPr>
          <p:spPr>
            <a:xfrm>
              <a:off x="6819900" y="3619500"/>
              <a:ext cx="4762500" cy="95250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17842" y="3816668"/>
              <a:ext cx="910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fixtures/</a:t>
              </a:r>
              <a:endParaRPr lang="zh-CN" sz="13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18604" y="4137660"/>
              <a:ext cx="325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前后置与数据装配——登录态、造数、场景准备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19900" y="4724400"/>
            <a:ext cx="4762500" cy="1066800"/>
            <a:chOff x="6819900" y="4724400"/>
            <a:chExt cx="4762500" cy="1066800"/>
          </a:xfrm>
        </p:grpSpPr>
        <p:sp>
          <p:nvSpPr>
            <p:cNvPr id="20" name="Rectangle 20"/>
            <p:cNvSpPr/>
            <p:nvPr/>
          </p:nvSpPr>
          <p:spPr>
            <a:xfrm>
              <a:off x="6819900" y="4724400"/>
              <a:ext cx="4762500" cy="10668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17842" y="4921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data/</a:t>
              </a:r>
              <a:endParaRPr lang="zh-CN" sz="13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8604" y="524256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输入参数与断言数据集中管理——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8604" y="5509260"/>
              <a:ext cx="200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预期值可追溯到 01/02 文档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6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27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3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2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568642"/>
            <a:ext cx="4964793" cy="557403"/>
            <a:chOff x="609600" y="568642"/>
            <a:chExt cx="4964793" cy="557403"/>
          </a:xfrm>
        </p:grpSpPr>
        <p:sp>
          <p:nvSpPr>
            <p:cNvPr id="11" name="Rectangle 11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822" y="568642"/>
              <a:ext cx="471257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定位规范 + 失败归因六分类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3504" y="1413510"/>
            <a:ext cx="10178796" cy="983551"/>
            <a:chOff x="603504" y="1413510"/>
            <a:chExt cx="10178796" cy="983551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1413510"/>
              <a:ext cx="209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定位优先级（从高到低）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16764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10208" y="1810702"/>
              <a:ext cx="884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getByTestId</a:t>
              </a:r>
              <a:endParaRPr lang="zh-CN" sz="10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2895600" y="18669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38500" y="1676400"/>
              <a:ext cx="2667000" cy="381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49108" y="1810702"/>
              <a:ext cx="1245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getByRole + name</a:t>
              </a:r>
              <a:endParaRPr lang="zh-CN" sz="10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5905500" y="18669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1676400"/>
              <a:ext cx="2095500" cy="381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08114" y="1810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稳定属性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8343900" y="18669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86800" y="1676400"/>
              <a:ext cx="20955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28261" y="1810702"/>
              <a:ext cx="1212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脆弱 CSS（避免）</a:t>
              </a:r>
              <a:endPara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266" y="2191702"/>
              <a:ext cx="4123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前端配合：关键元素补 data-testid，权限显隐有明确可观察行为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2552700"/>
            <a:ext cx="3505200" cy="1600200"/>
            <a:chOff x="609600" y="2552700"/>
            <a:chExt cx="3505200" cy="1600200"/>
          </a:xfrm>
        </p:grpSpPr>
        <p:sp>
          <p:nvSpPr>
            <p:cNvPr id="28" name="Rectangle 28"/>
            <p:cNvSpPr/>
            <p:nvPr/>
          </p:nvSpPr>
          <p:spPr>
            <a:xfrm>
              <a:off x="609600" y="2552700"/>
              <a:ext cx="3505200" cy="1600200"/>
            </a:xfrm>
            <a:prstGeom prst="roundRect">
              <a:avLst>
                <a:gd name="adj" fmla="val 476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27717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ENV</a:t>
              </a:r>
              <a:endParaRPr lang="zh-CN" sz="15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866" y="3429952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环境不可用、服务/网络异常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43400" y="2552700"/>
            <a:ext cx="3505200" cy="1600200"/>
            <a:chOff x="4343400" y="2552700"/>
            <a:chExt cx="3505200" cy="1600200"/>
          </a:xfrm>
        </p:grpSpPr>
        <p:sp>
          <p:nvSpPr>
            <p:cNvPr id="33" name="Rectangle 33"/>
            <p:cNvSpPr/>
            <p:nvPr/>
          </p:nvSpPr>
          <p:spPr>
            <a:xfrm>
              <a:off x="4343400" y="2552700"/>
              <a:ext cx="3505200" cy="1600200"/>
            </a:xfrm>
            <a:prstGeom prst="roundRect">
              <a:avLst>
                <a:gd name="adj" fmla="val 476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64380" y="277177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AUTH</a:t>
              </a:r>
              <a:endParaRPr lang="zh-CN" sz="15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590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鉴权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6666" y="3429952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token、权限、登录态问题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77200" y="2552700"/>
            <a:ext cx="3505200" cy="1600200"/>
            <a:chOff x="8077200" y="2552700"/>
            <a:chExt cx="3505200" cy="1600200"/>
          </a:xfrm>
        </p:grpSpPr>
        <p:sp>
          <p:nvSpPr>
            <p:cNvPr id="38" name="Rectangle 38"/>
            <p:cNvSpPr/>
            <p:nvPr/>
          </p:nvSpPr>
          <p:spPr>
            <a:xfrm>
              <a:off x="8077200" y="2552700"/>
              <a:ext cx="3505200" cy="1600200"/>
            </a:xfrm>
            <a:prstGeom prst="roundRect">
              <a:avLst>
                <a:gd name="adj" fmla="val 476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98180" y="277177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DATA</a:t>
              </a:r>
              <a:endParaRPr lang="zh-CN" sz="15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970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00466" y="34299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测试数据、前置数据不成立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4343400"/>
            <a:ext cx="3505200" cy="1600200"/>
            <a:chOff x="609600" y="4343400"/>
            <a:chExt cx="3505200" cy="1600200"/>
          </a:xfrm>
        </p:grpSpPr>
        <p:sp>
          <p:nvSpPr>
            <p:cNvPr id="43" name="Rectangle 43"/>
            <p:cNvSpPr/>
            <p:nvPr/>
          </p:nvSpPr>
          <p:spPr>
            <a:xfrm>
              <a:off x="609600" y="4343400"/>
              <a:ext cx="3505200" cy="1600200"/>
            </a:xfrm>
            <a:prstGeom prst="roundRect">
              <a:avLst>
                <a:gd name="adj" fmla="val 476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0580" y="4562475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SCRIPT</a:t>
              </a:r>
              <a:endParaRPr lang="zh-CN" sz="15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4899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866" y="5220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脚本自身问题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43400" y="4343400"/>
            <a:ext cx="3505200" cy="1600200"/>
            <a:chOff x="4343400" y="4343400"/>
            <a:chExt cx="3505200" cy="1600200"/>
          </a:xfrm>
        </p:grpSpPr>
        <p:sp>
          <p:nvSpPr>
            <p:cNvPr id="48" name="Rectangle 48"/>
            <p:cNvSpPr/>
            <p:nvPr/>
          </p:nvSpPr>
          <p:spPr>
            <a:xfrm>
              <a:off x="4343400" y="4343400"/>
              <a:ext cx="3505200" cy="1600200"/>
            </a:xfrm>
            <a:prstGeom prst="roundRect">
              <a:avLst>
                <a:gd name="adj" fmla="val 4762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64380" y="4562475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DEFECT</a:t>
              </a:r>
              <a:endParaRPr lang="zh-CN" sz="15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5904" y="4899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产品缺陷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6666" y="522065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产品/前后端真实缺陷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4343400"/>
            <a:ext cx="3505200" cy="1600200"/>
            <a:chOff x="8077200" y="4343400"/>
            <a:chExt cx="3505200" cy="1600200"/>
          </a:xfrm>
        </p:grpSpPr>
        <p:sp>
          <p:nvSpPr>
            <p:cNvPr id="53" name="Rectangle 53"/>
            <p:cNvSpPr/>
            <p:nvPr/>
          </p:nvSpPr>
          <p:spPr>
            <a:xfrm>
              <a:off x="8077200" y="4343400"/>
              <a:ext cx="3505200" cy="1600200"/>
            </a:xfrm>
            <a:prstGeom prst="roundRect">
              <a:avLst>
                <a:gd name="adj" fmla="val 476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98180" y="4562475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CHANGE</a:t>
              </a:r>
              <a:endParaRPr lang="zh-CN" sz="15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9704" y="4899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00466" y="5220652"/>
              <a:ext cx="2145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需求/页面/接口变更，脚本未同步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 / 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92442"/>
            <a:ext cx="8287512" cy="557403"/>
            <a:chOff x="609600" y="492442"/>
            <a:chExt cx="8287512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492442"/>
              <a:ext cx="65951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场景一：V1.6.1（0→1，从零开始）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59118" y="6219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 天闭环 · 双路线并行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143000"/>
            <a:ext cx="10972800" cy="2895600"/>
            <a:chOff x="609600" y="1143000"/>
            <a:chExt cx="10972800" cy="2895600"/>
          </a:xfrm>
        </p:grpSpPr>
        <p:sp>
          <p:nvSpPr>
            <p:cNvPr id="6" name="Rectangle 6"/>
            <p:cNvSpPr/>
            <p:nvPr/>
          </p:nvSpPr>
          <p:spPr>
            <a:xfrm>
              <a:off x="609600" y="1143000"/>
              <a:ext cx="1714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6666" y="1296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2324100" y="1143000"/>
              <a:ext cx="5524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71166" y="1296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848600" y="1143000"/>
              <a:ext cx="3733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95666" y="1296352"/>
              <a:ext cx="776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使用的 skill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1562100"/>
              <a:ext cx="1097280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6666" y="175355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7.6-7.7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71166" y="1753552"/>
              <a:ext cx="3468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需求讨论确认 + 整理需求 + 生成 01 文档 + 6 个 REQ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95666" y="175355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requirement-doc-bootstrap</a:t>
              </a:r>
              <a:endParaRPr lang="zh-CN" sz="10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2057400"/>
              <a:ext cx="10972800" cy="4953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6666" y="2248852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7.8–7.10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71166" y="2248852"/>
              <a:ext cx="2244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开发实现 + 更新 prd-to-code 映射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5666" y="2248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（编码）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552700"/>
              <a:ext cx="1097280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6666" y="274415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7.13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71166" y="2744152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02 详设 + 03 用例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5666" y="2744152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detail-design + testcase</a:t>
              </a:r>
              <a:endParaRPr lang="zh-CN" sz="10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3048000"/>
              <a:ext cx="10972800" cy="4953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6666" y="3239452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7.13–7.14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1166" y="3239452"/>
              <a:ext cx="29861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第一种方式：playwright-cli（交互式 + 截图）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323945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playwright-cli-testing</a:t>
              </a:r>
              <a:endParaRPr lang="zh-CN" sz="10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3543300"/>
              <a:ext cx="10972800" cy="495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3734752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7.13–7.14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71166" y="3734752"/>
              <a:ext cx="3188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第二种方式：playwright test（脚本化 + JUnit）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666" y="3734752"/>
              <a:ext cx="2251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playwright-test-implementation</a:t>
              </a:r>
              <a:endParaRPr lang="zh-CN" sz="10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381500"/>
            <a:ext cx="10972800" cy="1524000"/>
            <a:chOff x="609600" y="4381500"/>
            <a:chExt cx="10972800" cy="1524000"/>
          </a:xfrm>
        </p:grpSpPr>
        <p:sp>
          <p:nvSpPr>
            <p:cNvPr id="33" name="Rectangle 33"/>
            <p:cNvSpPr/>
            <p:nvPr/>
          </p:nvSpPr>
          <p:spPr>
            <a:xfrm>
              <a:off x="609600" y="4381500"/>
              <a:ext cx="3505200" cy="1524000"/>
            </a:xfrm>
            <a:prstGeom prst="roundRect">
              <a:avLst>
                <a:gd name="adj" fmla="val 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2104" y="4613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闭环时长</a:t>
              </a:r>
              <a:endParaRPr lang="zh-CN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294" y="4952048"/>
              <a:ext cx="13041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 个工作日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866" y="53921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从需求评审到跑通回归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3400" y="4381500"/>
              <a:ext cx="3505200" cy="1524000"/>
            </a:xfrm>
            <a:prstGeom prst="roundRect">
              <a:avLst>
                <a:gd name="adj" fmla="val 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5904" y="4613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一次性产出</a:t>
              </a:r>
              <a:endParaRPr lang="zh-CN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2094" y="4952048"/>
              <a:ext cx="20883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 spec · 48 用例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6666" y="53921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通过率达首次基线门禁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77200" y="4381500"/>
              <a:ext cx="35052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99704" y="4613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关键发现</a:t>
              </a:r>
              <a:endParaRPr lang="zh-CN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9704" y="4975860"/>
              <a:ext cx="2339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详设允许「code→design 反推」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00466" y="52778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skill 硬约束：前端代码 + 后台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00466" y="5506402"/>
              <a:ext cx="1127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spec 才能生成 02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49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0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2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3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5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35292"/>
            <a:ext cx="7444295" cy="557403"/>
            <a:chOff x="609600" y="435292"/>
            <a:chExt cx="7444295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762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435292"/>
              <a:ext cx="6874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场景二：V1.6.3（1→1.x，增量迭代）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57365" y="56705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 天增量闭环</a:t>
              </a:r>
              <a:endParaRPr lang="zh-CN" sz="15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990600"/>
            <a:ext cx="5334000" cy="2800350"/>
            <a:chOff x="609600" y="990600"/>
            <a:chExt cx="5334000" cy="2800350"/>
          </a:xfrm>
        </p:grpSpPr>
        <p:sp>
          <p:nvSpPr>
            <p:cNvPr id="6" name="Rectangle 6"/>
            <p:cNvSpPr/>
            <p:nvPr/>
          </p:nvSpPr>
          <p:spPr>
            <a:xfrm>
              <a:off x="609600" y="990600"/>
              <a:ext cx="1143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6666" y="11249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52600" y="990600"/>
              <a:ext cx="4191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99666" y="1124902"/>
              <a:ext cx="7608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 + skill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1371600"/>
              <a:ext cx="5334000" cy="5524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666" y="1582102"/>
              <a:ext cx="745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8.17–8.19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9666" y="1505902"/>
              <a:ext cx="2445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增量需求整理：变动检测 + REQ 续号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1742599"/>
              <a:ext cx="2608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requirement-doc-bootstrap（增量模式）</a:t>
              </a:r>
              <a:endParaRPr lang="zh-CN" sz="98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924050"/>
              <a:ext cx="5334000" cy="552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213455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8.19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9666" y="2058352"/>
              <a:ext cx="2378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详设 + 用例 + 一致性检查 + skill 优化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0047" y="2295049"/>
              <a:ext cx="22658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detail-design + testcase + 手工修正</a:t>
              </a:r>
              <a:endParaRPr lang="zh-CN" sz="98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476500"/>
              <a:ext cx="5334000" cy="438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666" y="26393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8.20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99666" y="26393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开发联调（编码）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2914650"/>
              <a:ext cx="5334000" cy="438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666" y="30775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8.24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99666" y="3077528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 6 个 spec · 54 条用例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3352800"/>
              <a:ext cx="5334000" cy="438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6666" y="351567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8.25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99666" y="3515678"/>
              <a:ext cx="2574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全量回归 3 轮（run-report + AI 报告）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72200" y="990600"/>
            <a:ext cx="5410200" cy="2800350"/>
            <a:chOff x="6172200" y="990600"/>
            <a:chExt cx="5410200" cy="2800350"/>
          </a:xfrm>
        </p:grpSpPr>
        <p:sp>
          <p:nvSpPr>
            <p:cNvPr id="28" name="Rectangle 28"/>
            <p:cNvSpPr/>
            <p:nvPr/>
          </p:nvSpPr>
          <p:spPr>
            <a:xfrm>
              <a:off x="6172200" y="990600"/>
              <a:ext cx="1524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19266" y="1124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差异点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96200" y="990600"/>
              <a:ext cx="180975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43266" y="1124902"/>
              <a:ext cx="1085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0→1（V1.6.1）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05950" y="990600"/>
              <a:ext cx="207645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53016" y="1124902"/>
              <a:ext cx="1224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1→1.x（V1.6.3）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72200" y="1371600"/>
              <a:ext cx="5410200" cy="4000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19647" y="1513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详设输入</a:t>
              </a:r>
              <a:endParaRPr lang="zh-CN" sz="9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3647" y="1513999"/>
              <a:ext cx="1203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+ 02b + 前端代码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53397" y="1513999"/>
              <a:ext cx="1434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+ 基线 02 + 后台文档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72200" y="1771650"/>
              <a:ext cx="5410200" cy="400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19647" y="19140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详设模式</a:t>
              </a:r>
              <a:endParaRPr lang="zh-CN" sz="9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3647" y="1914049"/>
              <a:ext cx="1078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code→design 反推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53397" y="1914049"/>
              <a:ext cx="1500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design→design 增量推导</a:t>
              </a:r>
              <a:endParaRPr lang="zh-CN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72200" y="2171700"/>
              <a:ext cx="5410200" cy="4000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19647" y="23140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用例生成</a:t>
              </a:r>
              <a:endParaRPr lang="zh-CN" sz="9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43647" y="2314099"/>
              <a:ext cx="9996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全量（FT + IT）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53397" y="2314099"/>
              <a:ext cx="1132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增量（仅 FT/ET）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72200" y="2571750"/>
              <a:ext cx="5410200" cy="400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19647" y="27141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失效概念</a:t>
              </a:r>
              <a:endParaRPr lang="zh-CN" sz="9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43647" y="27141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53397" y="2714149"/>
              <a:ext cx="15372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必须识别（配额行→套餐）</a:t>
              </a:r>
              <a:endParaRPr lang="zh-CN" sz="9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172200" y="2971800"/>
              <a:ext cx="5410200" cy="4000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19647" y="31141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一致性检查</a:t>
              </a:r>
              <a:endParaRPr lang="zh-CN" sz="9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3647" y="3114199"/>
              <a:ext cx="8278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vs 02 双向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53397" y="31141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vs 02 vs 03 三向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172200" y="3371850"/>
              <a:ext cx="5410200" cy="419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19647" y="35142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强制环节</a:t>
              </a:r>
              <a:endParaRPr lang="zh-CN" sz="9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43647" y="35142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53397" y="3514249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prd-git-commit + 规则拦截</a:t>
              </a:r>
              <a:endParaRPr lang="zh-CN" sz="9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4343400"/>
            <a:ext cx="3619500" cy="1905000"/>
            <a:chOff x="609600" y="4343400"/>
            <a:chExt cx="3619500" cy="1905000"/>
          </a:xfrm>
        </p:grpSpPr>
        <p:sp>
          <p:nvSpPr>
            <p:cNvPr id="59" name="Rectangle 59"/>
            <p:cNvSpPr/>
            <p:nvPr/>
          </p:nvSpPr>
          <p:spPr>
            <a:xfrm>
              <a:off x="609600" y="4343400"/>
              <a:ext cx="3619500" cy="1905000"/>
            </a:xfrm>
            <a:prstGeom prst="roundRect">
              <a:avLst>
                <a:gd name="adj" fmla="val 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810668" y="4645342"/>
              <a:ext cx="12173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80.0%</a:t>
              </a:r>
              <a:endParaRPr lang="zh-CN" sz="28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66292" y="512826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通过率（40/50），达 80% 门禁</a:t>
              </a:r>
              <a:endParaRPr lang="zh-CN" sz="120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933468" y="5547360"/>
              <a:ext cx="971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项有效 bug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463431" y="583025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文案 · 查询 · 缓存 · 编辑保存</a:t>
              </a:r>
              <a:endParaRPr lang="zh-CN" sz="105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419600" y="4343400"/>
            <a:ext cx="3467100" cy="876300"/>
            <a:chOff x="4419600" y="4343400"/>
            <a:chExt cx="3467100" cy="876300"/>
          </a:xfrm>
        </p:grpSpPr>
        <p:sp>
          <p:nvSpPr>
            <p:cNvPr id="65" name="Rectangle 65"/>
            <p:cNvSpPr/>
            <p:nvPr/>
          </p:nvSpPr>
          <p:spPr>
            <a:xfrm>
              <a:off x="4419600" y="4343400"/>
              <a:ext cx="3467100" cy="876300"/>
            </a:xfrm>
            <a:prstGeom prst="roundRect">
              <a:avLst>
                <a:gd name="adj" fmla="val 86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642866" y="4534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误报（断言策略）</a:t>
              </a:r>
              <a:endParaRPr lang="zh-CN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638294" y="4780598"/>
              <a:ext cx="25449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项</a:t>
              </a: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　颜色 · toast 范围 · 文案逐列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115300" y="4343400"/>
            <a:ext cx="3467100" cy="876300"/>
            <a:chOff x="8115300" y="4343400"/>
            <a:chExt cx="3467100" cy="876300"/>
          </a:xfrm>
        </p:grpSpPr>
        <p:sp>
          <p:nvSpPr>
            <p:cNvPr id="69" name="Rectangle 69"/>
            <p:cNvSpPr/>
            <p:nvPr/>
          </p:nvSpPr>
          <p:spPr>
            <a:xfrm>
              <a:off x="8115300" y="4343400"/>
              <a:ext cx="3467100" cy="876300"/>
            </a:xfrm>
            <a:prstGeom prst="roundRect">
              <a:avLst>
                <a:gd name="adj" fmla="val 86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38566" y="45348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漏测</a:t>
              </a:r>
              <a:endParaRPr lang="zh-CN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33994" y="4780598"/>
              <a:ext cx="2799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项</a:t>
              </a: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　写操作未断言刷新 · 需求文档错误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19600" y="5372100"/>
            <a:ext cx="3467100" cy="876300"/>
            <a:chOff x="4419600" y="5372100"/>
            <a:chExt cx="3467100" cy="876300"/>
          </a:xfrm>
        </p:grpSpPr>
        <p:sp>
          <p:nvSpPr>
            <p:cNvPr id="73" name="Rectangle 73"/>
            <p:cNvSpPr/>
            <p:nvPr/>
          </p:nvSpPr>
          <p:spPr>
            <a:xfrm>
              <a:off x="4419600" y="5372100"/>
              <a:ext cx="3467100" cy="876300"/>
            </a:xfrm>
            <a:prstGeom prst="roundRect">
              <a:avLst>
                <a:gd name="adj" fmla="val 86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2866" y="556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跳过</a:t>
              </a:r>
              <a:endParaRPr lang="zh-CN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38294" y="5809298"/>
              <a:ext cx="21138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项</a:t>
              </a: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　存储合同 · 分页 · 启停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15300" y="5372100"/>
            <a:ext cx="3467100" cy="876300"/>
            <a:chOff x="8115300" y="5372100"/>
            <a:chExt cx="3467100" cy="876300"/>
          </a:xfrm>
        </p:grpSpPr>
        <p:sp>
          <p:nvSpPr>
            <p:cNvPr id="77" name="Rectangle 77"/>
            <p:cNvSpPr/>
            <p:nvPr/>
          </p:nvSpPr>
          <p:spPr>
            <a:xfrm>
              <a:off x="8115300" y="5372100"/>
              <a:ext cx="3467100" cy="876300"/>
            </a:xfrm>
            <a:prstGeom prst="roundRect">
              <a:avLst>
                <a:gd name="adj" fmla="val 86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8566" y="5563552"/>
              <a:ext cx="10863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错误（SCRIPT）</a:t>
              </a:r>
              <a:endParaRPr lang="zh-CN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3994" y="5809298"/>
              <a:ext cx="20926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项</a:t>
              </a: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　定位回归 · 子表行不足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2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83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4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86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7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89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492442"/>
            <a:ext cx="6803517" cy="557403"/>
            <a:chOff x="609600" y="492442"/>
            <a:chExt cx="6803517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49244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投入产出与维护成本（两个场景总结）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1143000"/>
            <a:ext cx="10972800" cy="2667000"/>
            <a:chOff x="609600" y="1143000"/>
            <a:chExt cx="10972800" cy="2667000"/>
          </a:xfrm>
        </p:grpSpPr>
        <p:sp>
          <p:nvSpPr>
            <p:cNvPr id="5" name="Rectangle 5"/>
            <p:cNvSpPr/>
            <p:nvPr/>
          </p:nvSpPr>
          <p:spPr>
            <a:xfrm>
              <a:off x="609600" y="1143000"/>
              <a:ext cx="22860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4004" y="13373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95600" y="1143000"/>
              <a:ext cx="43434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80004" y="1337310"/>
              <a:ext cx="12407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V1.6.1（0→1）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0" y="1143000"/>
              <a:ext cx="43434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3404" y="1337310"/>
              <a:ext cx="1399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V1.6.3（1→1.x）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676400"/>
              <a:ext cx="109728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4004" y="1870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版本周期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0004" y="18707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~7 个工作日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23404" y="18707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~5 个工作日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2209800"/>
              <a:ext cx="10972800" cy="533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4004" y="2404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实际编码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0004" y="2404110"/>
              <a:ext cx="1048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天（~43%）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3404" y="2404110"/>
              <a:ext cx="1048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天（~20%）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2743200"/>
              <a:ext cx="10972800" cy="533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004" y="2937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测试脚本编写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0004" y="293751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~1 天（~15%）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3404" y="293751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~1 天（~20%）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3276600"/>
              <a:ext cx="10972800" cy="5334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AEAF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4004" y="3470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其余时间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0766" y="3487102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需求/详设/用例生成 + 首轮双路线验证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4166" y="348710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增量需求整理 + 一致性检查 + 3 轮回归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4038600"/>
            <a:ext cx="10972800" cy="571500"/>
            <a:chOff x="609600" y="4038600"/>
            <a:chExt cx="10972800" cy="571500"/>
          </a:xfrm>
        </p:grpSpPr>
        <p:sp>
          <p:nvSpPr>
            <p:cNvPr id="28" name="Rectangle 28"/>
            <p:cNvSpPr/>
            <p:nvPr/>
          </p:nvSpPr>
          <p:spPr>
            <a:xfrm>
              <a:off x="609600" y="4038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49002" y="4254818"/>
              <a:ext cx="5493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编码之外的时间占周期一半以上——这些正是知识库建设与消费的时间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838700"/>
            <a:ext cx="10972800" cy="1219200"/>
            <a:chOff x="609600" y="4838700"/>
            <a:chExt cx="10972800" cy="1219200"/>
          </a:xfrm>
        </p:grpSpPr>
        <p:sp>
          <p:nvSpPr>
            <p:cNvPr id="31" name="Rectangle 31"/>
            <p:cNvSpPr/>
            <p:nvPr/>
          </p:nvSpPr>
          <p:spPr>
            <a:xfrm>
              <a:off x="609600" y="4838700"/>
              <a:ext cx="109728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018" y="5041582"/>
              <a:ext cx="339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核心权衡：知识库质量 ↔ 交付速度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545211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知识库颗粒度越细，用例与脚本越准确；但整理与审核时间越多，直接挤占开发时间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304" y="5737860"/>
              <a:ext cx="3047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按模块重要性（P0/P1）决定投入程度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19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10"/>
          <p:cNvGrpSpPr/>
          <p:nvPr/>
        </p:nvGrpSpPr>
        <p:grpSpPr>
          <a:xfrm>
            <a:off x="7467600" y="114300"/>
            <a:ext cx="4114800" cy="266700"/>
            <a:chOff x="7467600" y="114300"/>
            <a:chExt cx="4114800" cy="266700"/>
          </a:xfrm>
        </p:grpSpPr>
        <p:sp>
          <p:nvSpPr>
            <p:cNvPr id="38" name="Rectangle 2"/>
            <p:cNvSpPr/>
            <p:nvPr/>
          </p:nvSpPr>
          <p:spPr>
            <a:xfrm>
              <a:off x="74676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"/>
            <p:cNvSpPr txBox="1"/>
            <p:nvPr/>
          </p:nvSpPr>
          <p:spPr>
            <a:xfrm>
              <a:off x="78083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协同方案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Polygon 4"/>
            <p:cNvSpPr/>
            <p:nvPr/>
          </p:nvSpPr>
          <p:spPr>
            <a:xfrm>
              <a:off x="87630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1" name="Rectangle 5"/>
            <p:cNvSpPr/>
            <p:nvPr/>
          </p:nvSpPr>
          <p:spPr>
            <a:xfrm>
              <a:off x="89154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6"/>
            <p:cNvSpPr txBox="1"/>
            <p:nvPr/>
          </p:nvSpPr>
          <p:spPr>
            <a:xfrm>
              <a:off x="9190228" y="19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Polygon 7"/>
            <p:cNvSpPr/>
            <p:nvPr/>
          </p:nvSpPr>
          <p:spPr>
            <a:xfrm>
              <a:off x="10210800" y="190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4" name="Rectangle 8"/>
            <p:cNvSpPr/>
            <p:nvPr/>
          </p:nvSpPr>
          <p:spPr>
            <a:xfrm>
              <a:off x="10363200" y="11430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9"/>
            <p:cNvSpPr txBox="1"/>
            <p:nvPr/>
          </p:nvSpPr>
          <p:spPr>
            <a:xfrm>
              <a:off x="10703992" y="1900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实战案例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492442"/>
            <a:ext cx="6419850" cy="557403"/>
            <a:chOff x="609600" y="492442"/>
            <a:chExt cx="6419850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49244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维护成本与下一个挑战：多模块联动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2742" y="1302068"/>
            <a:ext cx="740664" cy="264033"/>
            <a:chOff x="602742" y="1302068"/>
            <a:chExt cx="740664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302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维护成本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562100"/>
            <a:ext cx="5334000" cy="952500"/>
            <a:chOff x="609600" y="1562100"/>
            <a:chExt cx="5334000" cy="952500"/>
          </a:xfrm>
        </p:grpSpPr>
        <p:sp>
          <p:nvSpPr>
            <p:cNvPr id="7" name="Rectangle 7"/>
            <p:cNvSpPr/>
            <p:nvPr/>
          </p:nvSpPr>
          <p:spPr>
            <a:xfrm>
              <a:off x="609600" y="1562100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30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需求变动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066" y="2039302"/>
              <a:ext cx="3643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01/02/03 与测试脚本需联动更新，变动越大维护成本越高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48400" y="1562100"/>
            <a:ext cx="5334000" cy="952500"/>
            <a:chOff x="6248400" y="1562100"/>
            <a:chExt cx="5334000" cy="952500"/>
          </a:xfrm>
        </p:grpSpPr>
        <p:sp>
          <p:nvSpPr>
            <p:cNvPr id="11" name="Rectangle 11"/>
            <p:cNvSpPr/>
            <p:nvPr/>
          </p:nvSpPr>
          <p:spPr>
            <a:xfrm>
              <a:off x="6248400" y="1562100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47104" y="1737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增量场景成本更高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47866" y="2039302"/>
              <a:ext cx="4420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先判断失效知识库、评估影响范围，再决定增/改/删——判断本身费人力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2742" y="2826068"/>
            <a:ext cx="6797345" cy="264033"/>
            <a:chOff x="602742" y="2826068"/>
            <a:chExt cx="6797345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02742" y="28260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下一个挑战：多模块联动（尚未试点验证）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6666" y="2858452"/>
              <a:ext cx="2833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当前试点是单模块闭环（BILLCFG 模块内）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124200"/>
            <a:ext cx="3505200" cy="1619250"/>
            <a:chOff x="609600" y="3124200"/>
            <a:chExt cx="35052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124200"/>
              <a:ext cx="3505200" cy="1619250"/>
            </a:xfrm>
            <a:prstGeom prst="roundRect">
              <a:avLst>
                <a:gd name="adj" fmla="val 470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104" y="3337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知识库需要扩展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866" y="3658552"/>
              <a:ext cx="1610868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跨模块数据流转需要专门的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数据流转设计（蓝图已预留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01b-数据流转设计.md）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43400" y="3124200"/>
            <a:ext cx="3505200" cy="1619250"/>
            <a:chOff x="4343400" y="3124200"/>
            <a:chExt cx="3505200" cy="1619250"/>
          </a:xfrm>
        </p:grpSpPr>
        <p:sp>
          <p:nvSpPr>
            <p:cNvPr id="22" name="Rectangle 22"/>
            <p:cNvSpPr/>
            <p:nvPr/>
          </p:nvSpPr>
          <p:spPr>
            <a:xfrm>
              <a:off x="4343400" y="3124200"/>
              <a:ext cx="3505200" cy="1619250"/>
            </a:xfrm>
            <a:prstGeom prst="roundRect">
              <a:avLst>
                <a:gd name="adj" fmla="val 470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5904" y="33375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测试场景膨胀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6666" y="3658552"/>
              <a:ext cx="1724216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除各模块自身场景外，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还要覆盖跨模块业务流程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（A 配置变更 → B 展示变化）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77200" y="3124200"/>
            <a:ext cx="3505200" cy="1619250"/>
            <a:chOff x="8077200" y="3124200"/>
            <a:chExt cx="3505200" cy="1619250"/>
          </a:xfrm>
        </p:grpSpPr>
        <p:sp>
          <p:nvSpPr>
            <p:cNvPr id="26" name="Rectangle 26"/>
            <p:cNvSpPr/>
            <p:nvPr/>
          </p:nvSpPr>
          <p:spPr>
            <a:xfrm>
              <a:off x="8077200" y="3124200"/>
              <a:ext cx="3505200" cy="1619250"/>
            </a:xfrm>
            <a:prstGeom prst="roundRect">
              <a:avLst>
                <a:gd name="adj" fmla="val 470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9704" y="3337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影响范围更复杂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00466" y="3658552"/>
              <a:ext cx="1610868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一个模块的需求变动，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可能波及其他模块的知识库</a:t>
              </a:r>
              <a:b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与脚本，失效判断跨模块化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4991100"/>
            <a:ext cx="10972800" cy="1066800"/>
            <a:chOff x="609600" y="4991100"/>
            <a:chExt cx="10972800" cy="1066800"/>
          </a:xfrm>
        </p:grpSpPr>
        <p:sp>
          <p:nvSpPr>
            <p:cNvPr id="30" name="Rectangle 30"/>
            <p:cNvSpPr/>
            <p:nvPr/>
          </p:nvSpPr>
          <p:spPr>
            <a:xfrm>
              <a:off x="609600" y="4991100"/>
              <a:ext cx="10972800" cy="10668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8304" y="5223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应对思路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9066" y="5544502"/>
              <a:ext cx="8688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编号体系已预留跨模块扩展：REQ-{模块} 各模块独立编号、跨域异常用例 ET-{MODULE}-X-{NNN}（V1.6.3 已出现 1 例跨域 ET）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9066" y="5792152"/>
              <a:ext cx="5240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数据流转知识库的颗粒度、跨模块场景的组织方式，还需在多模块试点中进一步验证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68642"/>
            <a:ext cx="2966847" cy="557403"/>
            <a:chOff x="609600" y="568642"/>
            <a:chExt cx="2966847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回到开场的问题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485900"/>
            <a:ext cx="10972800" cy="1028700"/>
            <a:chOff x="609600" y="1485900"/>
            <a:chExt cx="10972800" cy="1028700"/>
          </a:xfrm>
        </p:grpSpPr>
        <p:sp>
          <p:nvSpPr>
            <p:cNvPr id="5" name="Rectangle 5"/>
            <p:cNvSpPr/>
            <p:nvPr/>
          </p:nvSpPr>
          <p:spPr>
            <a:xfrm>
              <a:off x="609600" y="1485900"/>
              <a:ext cx="10972800" cy="1028700"/>
            </a:xfrm>
            <a:prstGeom prst="roundRect">
              <a:avLst>
                <a:gd name="adj" fmla="val 740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8304" y="1737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59027" y="1728788"/>
              <a:ext cx="417995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怎么让「需求 → 开发 → 测试」围绕同一条主线跑起来，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并用 AI 把自动化测试的产出效率提上去？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2743200"/>
            <a:ext cx="10972800" cy="1447800"/>
            <a:chOff x="609600" y="2743200"/>
            <a:chExt cx="10972800" cy="1447800"/>
          </a:xfrm>
        </p:grpSpPr>
        <p:sp>
          <p:nvSpPr>
            <p:cNvPr id="9" name="Rectangle 9"/>
            <p:cNvSpPr/>
            <p:nvPr/>
          </p:nvSpPr>
          <p:spPr>
            <a:xfrm>
              <a:off x="609600" y="2743200"/>
              <a:ext cx="10972800" cy="1447800"/>
            </a:xfrm>
            <a:prstGeom prst="roundRect">
              <a:avLst>
                <a:gd name="adj" fmla="val 526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304" y="2994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答案</a:t>
              </a:r>
              <a:endParaRPr lang="zh-CN" sz="1200" b="1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302318"/>
              <a:ext cx="5083921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用一个 REQ 编号贯穿全流程：需求文档保覆盖度，详设保准确度，</a:t>
              </a:r>
              <a:b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IDE + AI 提效，Playwright 确定性执行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066" y="392525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AEAF8"/>
                  </a:solidFill>
                  <a:latin typeface="+mn-lt"/>
                  <a:ea typeface="+mn-ea"/>
                  <a:cs typeface="+mn-cs"/>
                </a:rPr>
                <a:t>两个版本试点已验证，沉淀出一套可复制、可审计的自动化测试体系</a:t>
              </a:r>
              <a:endParaRPr lang="zh-CN" sz="1050" dirty="0">
                <a:solidFill>
                  <a:srgbClr val="DAEAF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4419600"/>
            <a:ext cx="10972800" cy="1676400"/>
            <a:chOff x="609600" y="4419600"/>
            <a:chExt cx="10972800" cy="1676400"/>
          </a:xfrm>
        </p:grpSpPr>
        <p:sp>
          <p:nvSpPr>
            <p:cNvPr id="14" name="Rectangle 14"/>
            <p:cNvSpPr/>
            <p:nvPr/>
          </p:nvSpPr>
          <p:spPr>
            <a:xfrm>
              <a:off x="609600" y="4419600"/>
              <a:ext cx="10972800" cy="1676400"/>
            </a:xfrm>
            <a:prstGeom prst="roundRect">
              <a:avLst>
                <a:gd name="adj" fmla="val 4545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4654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但它不是免费的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50139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知识库的整理与审核会挤占开发时间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5318760"/>
              <a:ext cx="4341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需求变动、增量迭代、多模块联动都会带来持续的维护成本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304" y="5680710"/>
              <a:ext cx="3388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需要按模块重要性（P0/P1）权衡投入程度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68642"/>
            <a:ext cx="3041875" cy="557403"/>
            <a:chOff x="609600" y="568642"/>
            <a:chExt cx="3041875" cy="557403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61822" y="568642"/>
              <a:ext cx="27896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 Takeaway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485900"/>
            <a:ext cx="10972800" cy="876300"/>
            <a:chOff x="609600" y="1485900"/>
            <a:chExt cx="10972800" cy="876300"/>
          </a:xfrm>
        </p:grpSpPr>
        <p:sp>
          <p:nvSpPr>
            <p:cNvPr id="5" name="Rectangle 5"/>
            <p:cNvSpPr/>
            <p:nvPr/>
          </p:nvSpPr>
          <p:spPr>
            <a:xfrm>
              <a:off x="609600" y="14859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76300" y="16954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5565" y="18545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6380" y="17049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一个编号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51404" y="1737360"/>
              <a:ext cx="3622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 贯穿需求、代码、用例、脚本、缺陷、结果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8666" y="20583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全链路可追踪、可回填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495550"/>
            <a:ext cx="10972800" cy="876300"/>
            <a:chOff x="609600" y="2495550"/>
            <a:chExt cx="10972800" cy="876300"/>
          </a:xfrm>
        </p:grpSpPr>
        <p:sp>
          <p:nvSpPr>
            <p:cNvPr id="12" name="Rectangle 12"/>
            <p:cNvSpPr/>
            <p:nvPr/>
          </p:nvSpPr>
          <p:spPr>
            <a:xfrm>
              <a:off x="609600" y="249555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76300" y="27051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5565" y="2864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6380" y="2714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三大支撑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51404" y="2747010"/>
              <a:ext cx="5166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需求文档（01）保覆盖度 · 详细设计（02）保准确度 · IDE + AI 提效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3505200"/>
            <a:ext cx="10972800" cy="876300"/>
            <a:chOff x="609600" y="3505200"/>
            <a:chExt cx="109728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09600" y="35052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76300" y="37147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5565" y="38738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6380" y="3724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两条路线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51404" y="3699510"/>
              <a:ext cx="2919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 探路（AI 驾驶员，快速摸底抓缺陷）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51404" y="3985260"/>
              <a:ext cx="3404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脚本沉淀（确定性回归 · 零 Token · 可进 CI）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4514850"/>
            <a:ext cx="10972800" cy="876300"/>
            <a:chOff x="609600" y="4514850"/>
            <a:chExt cx="10972800" cy="876300"/>
          </a:xfrm>
        </p:grpSpPr>
        <p:sp>
          <p:nvSpPr>
            <p:cNvPr id="25" name="Rectangle 25"/>
            <p:cNvSpPr/>
            <p:nvPr/>
          </p:nvSpPr>
          <p:spPr>
            <a:xfrm>
              <a:off x="609600" y="451485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6300" y="4724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5565" y="48834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6380" y="4733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一个定位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51404" y="4766310"/>
              <a:ext cx="3639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是副驾——产出必须经人审核，执行必须确定性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5524500"/>
            <a:ext cx="10972800" cy="876300"/>
            <a:chOff x="609600" y="5524500"/>
            <a:chExt cx="10972800" cy="876300"/>
          </a:xfrm>
        </p:grpSpPr>
        <p:sp>
          <p:nvSpPr>
            <p:cNvPr id="31" name="Rectangle 31"/>
            <p:cNvSpPr/>
            <p:nvPr/>
          </p:nvSpPr>
          <p:spPr>
            <a:xfrm>
              <a:off x="609600" y="5524500"/>
              <a:ext cx="10972800" cy="87630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6300" y="5734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5565" y="58931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6380" y="5743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一道权衡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51404" y="5775960"/>
              <a:ext cx="40233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知识库质量 ↔ 交付速度，按模块 P0/P1 决定投入程度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03540" y="64970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 / 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auto-test-sharing">
  <a:themeElements>
    <a:clrScheme name="ai-auto-test-sharing">
      <a:dk1>
        <a:srgbClr val="262626"/>
      </a:dk1>
      <a:lt1>
        <a:srgbClr val="FFFFFF"/>
      </a:lt1>
      <a:dk2>
        <a:srgbClr val="1F497D"/>
      </a:dk2>
      <a:lt2>
        <a:srgbClr val="FFFFFF"/>
      </a:lt2>
      <a:accent1>
        <a:srgbClr val="0050A0"/>
      </a:accent1>
      <a:accent2>
        <a:srgbClr val="C00000"/>
      </a:accent2>
      <a:accent3>
        <a:srgbClr val="008B3A"/>
      </a:accent3>
      <a:accent4>
        <a:srgbClr val="0050A0"/>
      </a:accent4>
      <a:accent5>
        <a:srgbClr val="DAEAF8"/>
      </a:accent5>
      <a:accent6>
        <a:srgbClr val="595959"/>
      </a:accent6>
      <a:hlink>
        <a:srgbClr val="C00000"/>
      </a:hlink>
      <a:folHlink>
        <a:srgbClr val="008B3A"/>
      </a:folHlink>
    </a:clrScheme>
    <a:fontScheme name="ai-auto-test-shar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auto-test-sha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i-auto-test-sharing">
  <a:themeElements>
    <a:clrScheme name="ai-auto-test-sharing">
      <a:dk1>
        <a:srgbClr val="262626"/>
      </a:dk1>
      <a:lt1>
        <a:srgbClr val="FFFFFF"/>
      </a:lt1>
      <a:dk2>
        <a:srgbClr val="1F497D"/>
      </a:dk2>
      <a:lt2>
        <a:srgbClr val="FFFFFF"/>
      </a:lt2>
      <a:accent1>
        <a:srgbClr val="0050A0"/>
      </a:accent1>
      <a:accent2>
        <a:srgbClr val="C00000"/>
      </a:accent2>
      <a:accent3>
        <a:srgbClr val="008B3A"/>
      </a:accent3>
      <a:accent4>
        <a:srgbClr val="0050A0"/>
      </a:accent4>
      <a:accent5>
        <a:srgbClr val="DAEAF8"/>
      </a:accent5>
      <a:accent6>
        <a:srgbClr val="595959"/>
      </a:accent6>
      <a:hlink>
        <a:srgbClr val="C00000"/>
      </a:hlink>
      <a:folHlink>
        <a:srgbClr val="008B3A"/>
      </a:folHlink>
    </a:clrScheme>
    <a:fontScheme name="ai-auto-test-shar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auto-test-sha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7531</Words>
  <Application>WPS 演示</Application>
  <PresentationFormat>On-screen Show (16:9)</PresentationFormat>
  <Paragraphs>1014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Consolas</vt:lpstr>
      <vt:lpstr>微软雅黑</vt:lpstr>
      <vt:lpstr>Segoe UI</vt:lpstr>
      <vt:lpstr>Arial Unicode MS</vt:lpstr>
      <vt:lpstr>ai-auto-test-sharing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宋焕莲</cp:lastModifiedBy>
  <cp:revision>35</cp:revision>
  <dcterms:created xsi:type="dcterms:W3CDTF">2026-08-27T07:57:00Z</dcterms:created>
  <dcterms:modified xsi:type="dcterms:W3CDTF">2026-08-31T01:28:41Z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29872D33E89A494F947E3580803472CB_12</vt:lpwstr>
  </property>
  <property fmtid="{D5CDD505-2E9C-101B-9397-08002B2CF9AE}" pid="3" name="KSOProductBuildVer">
    <vt:lpwstr>2052-12.1.0.20784</vt:lpwstr>
  </property>
</Properties>
</file>