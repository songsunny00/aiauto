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81" r:id="rId3"/>
    <p:sldId id="279" r:id="rId5"/>
    <p:sldId id="257" r:id="rId6"/>
    <p:sldId id="258" r:id="rId7"/>
    <p:sldId id="259" r:id="rId8"/>
    <p:sldId id="260" r:id="rId9"/>
    <p:sldId id="280" r:id="rId10"/>
    <p:sldId id="262" r:id="rId11"/>
    <p:sldId id="263" r:id="rId12"/>
    <p:sldId id="282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4" r:id="rId21"/>
    <p:sldId id="275" r:id="rId22"/>
    <p:sldId id="276" r:id="rId23"/>
    <p:sldId id="277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27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CN"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开场问候：我是宋焕莲，今天分享的主题是 AI 赋能需求开发到自动化测试。重点讲 Playwright 自动化测试怎么落地（约占六成），协同方案做支撑（约四成），全程 30 分钟左右。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快速过议程：五个部分。重点在后三块——协同方案 11 分钟、Playwright 8 分钟、实战 7 分钟。底部条说明内容侧重：自动化测试 60%、协同方案 40%。</a:t>
            </a:r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这是全场全景图：产品原始输出经过整理澄清变成需求基线，往后详设、开发、测试设计、执行回归、封版。右侧强调两点：REQ 是贯穿全流程的统一编号；执行回归有两条分支——通过则回填 04 报告，发现缺陷则挂 REQ 走修复闭环。</a:t>
            </a:r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页大家应该都有共鸣，可以讲慢一点：五种痛点——格式风格不同、完整描述难找全、逻辑藏在原型图里、缺交互逻辑、追溯困难。右下红框强调：这些直接影响用例覆盖度——需求没写到的交互，测试就覆盖不到。</a:t>
            </a:r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解药两个动作：首次基线化，把原始输出收敛成统一模板的 01 文档并打 REQ 编号；版本关闭时增量回写基线，保证完整描述始终一处可查。底部伏笔：知识库颗粒度越细测试越准，但投入也越多——实战章节展开。</a:t>
            </a:r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AI 不替代测试，而是嵌入每个环节提效（七步：读文档→摸页面→生成骨架→人工审核→执行→失败分析→回填，其中第 4 步人工审核、第 5 步确定性执行是两条红线）。每一步都有对应 skill 现成可用，左侧表格快扫。右侧副驾定位：skill 管流程触发、agent 管信息整理、AI 管初稿与归因、人管审核。边界：AI 可做四件事，不可做三件事。</a:t>
            </a:r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四大设计落成结构化目录，协作载体是 IDE + Git。中间截图是真实项目结构，可以停 10 秒让大家看：Prds 目录加 01/02/03 编号天然支持检索，顺带解决了 Ones 不支持 RAG 问答的问题。</a:t>
            </a:r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一分钟带过：微软维护、支持三大浏览器内核、自动等待/trace/网络拦截原生能力开箱即用、UI 与 API 可同栈治理。</a:t>
            </a:r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本章重点页，先分别介绍两种方式各 30 秒：左边 cli 交互式，不写脚本，AI 实时决定点什么填什么；右边 test 脚本化，断言预写死，机器确定性执行。底部金句：AI 是驾驶员不是眼睛——判定依据仍是 DOM 文案精确比对，截图仅留证。</a:t>
            </a:r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真实数据对比，重点讲 Token 行和 CI 行：cli 每次回归重新消耗约 920K token；test 一次性投入后续零 token。覆盖度差异也要解释——cli 89.7% 是因为主动跳过写操作避免数据污染，test 81% 含写操作。结论：各有强弱，互补而非互替。</a:t>
            </a:r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优势互补：cli 擅长抓文案类真实缺陷——FORM-003 校验提示文案不符就是 cli 抓到的，test 因断言宽松漏检；test 擅长写操作全链路和 route 拦截网络层验证。下方场景表快扫。底部最佳实践：cli 先行探路，脚本跟进沉淀。</a:t>
            </a:r>
            <a:endParaRPr 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工程组织：一个模块一个子目录，四层分工——specs 面向场景、pages 隔离 UI 变化、fixtures 管前后置、data 集中管理断言数据且可追溯到文档。</a:t>
            </a:r>
            <a:endParaRPr lang="zh-C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定位优先级从 testid 到 CSS 逐级降低，需要前端配合补 data-testid。下方失败六分类：环境、鉴权、数据、脚本、缺陷、变更——失败有分类才能闭环，红框 DEFECT 是真缺陷，会进缺陷单挂 REQ。</a:t>
            </a:r>
            <a:endParaRPr lang="zh-CN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进入实战。BILLCFG 商业化计费配置模块，两个版本：V1.6.1 从零建设、V1.6.3 增量迭代。6+5 个 REQ、48 到 54 条用例、6 个 spec 文件。</a:t>
            </a:r>
            <a:endParaRPr lang="zh-CN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全场最有深度的一页，讲慢点：反直觉观察——编码只占 43% 和 20%，一半以上时间花在知识库建设与消费。红框核心权衡：知识库质量与交付速度的取舍，按模块 P0/P1 决定投入程度。</a:t>
            </a:r>
            <a:endParaRPr lang="zh-CN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维护成本：需求变动要 01/02/03 与脚本联动更新；增量场景要先判断失效知识库和影响范围。多模块联动是下一个挑战——需要 01b 数据流转设计支撑，编号体系已预留跨模块扩展，但尚未试点验证，诚实说明。</a:t>
            </a:r>
            <a:endParaRPr lang="zh-CN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回收开场问题：答案一句话——用一个 REQ 编号贯穿全流程，四大支撑。但它不是免费的：整理审核挤占开发时间，维护成本持续存在，按 P0/P1 权衡投入。</a:t>
            </a:r>
            <a:endParaRPr lang="zh-CN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五条 Takeaway 一口气念完作为收尾串词：一个编号、三大支撑、两条路线、一个定位、一道权衡。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i-auto-test-sharing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95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9753600" y="0"/>
            <a:ext cx="2438400" cy="1828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9753600" y="0"/>
            <a:ext cx="2438400" cy="114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10858500" y="571500"/>
            <a:ext cx="800100" cy="8001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4266" y="1925002"/>
            <a:ext cx="2100529" cy="205359"/>
            <a:chOff x="604266" y="1925002"/>
            <a:chExt cx="2100529" cy="205359"/>
          </a:xfrm>
        </p:grpSpPr>
        <p:sp>
          <p:nvSpPr>
            <p:cNvPr id="6" name="TextBox 6"/>
            <p:cNvSpPr txBox="1"/>
            <p:nvPr/>
          </p:nvSpPr>
          <p:spPr>
            <a:xfrm>
              <a:off x="604266" y="1925002"/>
              <a:ext cx="2100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spc="1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技术分享 · BIT 技术研发部</a:t>
              </a:r>
              <a:endParaRPr lang="zh-CN" sz="1050" spc="1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4360" y="2419350"/>
            <a:ext cx="6093104" cy="586740"/>
            <a:chOff x="594360" y="2419350"/>
            <a:chExt cx="6093104" cy="586740"/>
          </a:xfrm>
        </p:grpSpPr>
        <p:sp>
          <p:nvSpPr>
            <p:cNvPr id="8" name="TextBox 8"/>
            <p:cNvSpPr txBox="1"/>
            <p:nvPr/>
          </p:nvSpPr>
          <p:spPr>
            <a:xfrm>
              <a:off x="594360" y="2419350"/>
              <a:ext cx="609310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AI 赋能：需求开发到自动化测试</a:t>
              </a:r>
              <a:endPara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0456" y="3025140"/>
            <a:ext cx="5818053" cy="352044"/>
            <a:chOff x="600456" y="3025140"/>
            <a:chExt cx="5818053" cy="352044"/>
          </a:xfrm>
        </p:grpSpPr>
        <p:sp>
          <p:nvSpPr>
            <p:cNvPr id="10" name="TextBox 10"/>
            <p:cNvSpPr txBox="1"/>
            <p:nvPr/>
          </p:nvSpPr>
          <p:spPr>
            <a:xfrm>
              <a:off x="600456" y="3025140"/>
              <a:ext cx="581805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从上游知识库到 Playwright 确定性执行的一体化实践</a:t>
              </a:r>
              <a:endParaRPr lang="zh-CN" sz="18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09600" y="3619500"/>
            <a:ext cx="5600700" cy="419100"/>
            <a:chOff x="609600" y="3619500"/>
            <a:chExt cx="5600700" cy="419100"/>
          </a:xfrm>
        </p:grpSpPr>
        <p:sp>
          <p:nvSpPr>
            <p:cNvPr id="12" name="Rectangle 12"/>
            <p:cNvSpPr/>
            <p:nvPr/>
          </p:nvSpPr>
          <p:spPr>
            <a:xfrm>
              <a:off x="609600" y="3619500"/>
              <a:ext cx="1790700" cy="4191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153162" y="3772852"/>
              <a:ext cx="703580" cy="1612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 </a:t>
              </a:r>
              <a:endParaRPr lang="zh-CN" sz="10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590800" y="3619500"/>
              <a:ext cx="1562100" cy="4191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086736" y="3772852"/>
              <a:ext cx="570230" cy="1612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 </a:t>
              </a:r>
              <a:endParaRPr lang="zh-CN" sz="10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43400" y="3619500"/>
              <a:ext cx="1866900" cy="4191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9525">
              <a:solidFill>
                <a:schemeClr val="accent1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67014" y="3772852"/>
              <a:ext cx="12196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BILLCFG 真实试点</a:t>
              </a:r>
              <a:endParaRPr lang="zh-CN" sz="10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3504" y="5928360"/>
            <a:ext cx="3451555" cy="234696"/>
            <a:chOff x="603504" y="5928360"/>
            <a:chExt cx="3451555" cy="234696"/>
          </a:xfrm>
        </p:grpSpPr>
        <p:sp>
          <p:nvSpPr>
            <p:cNvPr id="19" name="TextBox 19"/>
            <p:cNvSpPr txBox="1"/>
            <p:nvPr/>
          </p:nvSpPr>
          <p:spPr>
            <a:xfrm>
              <a:off x="603504" y="5928360"/>
              <a:ext cx="34515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分享人：宋焕莲 · BIT 技术研发部 软件工程组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1032865" y="5944552"/>
            <a:ext cx="554869" cy="205359"/>
            <a:chOff x="11032865" y="5944552"/>
            <a:chExt cx="554869" cy="205359"/>
          </a:xfrm>
        </p:grpSpPr>
        <p:sp>
          <p:nvSpPr>
            <p:cNvPr id="21" name="TextBox 21"/>
            <p:cNvSpPr txBox="1"/>
            <p:nvPr/>
          </p:nvSpPr>
          <p:spPr>
            <a:xfrm>
              <a:off x="11032865" y="5944552"/>
              <a:ext cx="5548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2026.08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pic>
        <p:nvPicPr>
          <p:cNvPr id="2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5625" y="0"/>
            <a:ext cx="5286375" cy="5334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" name="Group 4"/>
          <p:cNvGrpSpPr/>
          <p:nvPr/>
        </p:nvGrpSpPr>
        <p:grpSpPr>
          <a:xfrm>
            <a:off x="609600" y="568642"/>
            <a:ext cx="6419850" cy="557403"/>
            <a:chOff x="609600" y="568642"/>
            <a:chExt cx="6419850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TextBox 3"/>
            <p:cNvSpPr txBox="1"/>
            <p:nvPr/>
          </p:nvSpPr>
          <p:spPr>
            <a:xfrm>
              <a:off x="861822" y="568642"/>
              <a:ext cx="616762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想做自动化测试，但为什么做不好？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09600" y="1447800"/>
            <a:ext cx="10972800" cy="914400"/>
            <a:chOff x="609600" y="1447800"/>
            <a:chExt cx="10972800" cy="914400"/>
          </a:xfrm>
        </p:grpSpPr>
        <p:sp>
          <p:nvSpPr>
            <p:cNvPr id="6" name="Rectangle 5"/>
            <p:cNvSpPr/>
            <p:nvPr/>
          </p:nvSpPr>
          <p:spPr>
            <a:xfrm>
              <a:off x="609600" y="1447800"/>
              <a:ext cx="10972800" cy="914400"/>
            </a:xfrm>
            <a:prstGeom prst="roundRect">
              <a:avLst>
                <a:gd name="adj" fmla="val 833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Ellipse 6"/>
            <p:cNvSpPr/>
            <p:nvPr/>
          </p:nvSpPr>
          <p:spPr>
            <a:xfrm>
              <a:off x="876300" y="171450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7"/>
            <p:cNvSpPr txBox="1"/>
            <p:nvPr/>
          </p:nvSpPr>
          <p:spPr>
            <a:xfrm>
              <a:off x="1014058" y="18326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40942" y="170211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目标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9"/>
            <p:cNvSpPr txBox="1"/>
            <p:nvPr/>
          </p:nvSpPr>
          <p:spPr>
            <a:xfrm>
              <a:off x="1441704" y="2004060"/>
              <a:ext cx="35661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为了提升、保证开发质量，我们想要做自动化测试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2514600"/>
            <a:ext cx="10972800" cy="914400"/>
            <a:chOff x="609600" y="2514600"/>
            <a:chExt cx="10972800" cy="914400"/>
          </a:xfrm>
        </p:grpSpPr>
        <p:sp>
          <p:nvSpPr>
            <p:cNvPr id="12" name="Rectangle 11"/>
            <p:cNvSpPr/>
            <p:nvPr/>
          </p:nvSpPr>
          <p:spPr>
            <a:xfrm>
              <a:off x="609600" y="2514600"/>
              <a:ext cx="10972800" cy="914400"/>
            </a:xfrm>
            <a:prstGeom prst="roundRect">
              <a:avLst>
                <a:gd name="adj" fmla="val 833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3" name="Ellipse 12"/>
            <p:cNvSpPr/>
            <p:nvPr/>
          </p:nvSpPr>
          <p:spPr>
            <a:xfrm>
              <a:off x="876300" y="278130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3"/>
            <p:cNvSpPr txBox="1"/>
            <p:nvPr/>
          </p:nvSpPr>
          <p:spPr>
            <a:xfrm>
              <a:off x="1014058" y="28994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440942" y="2768918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现实：自动化测试是系统开发的最后一环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5"/>
            <p:cNvSpPr txBox="1"/>
            <p:nvPr/>
          </p:nvSpPr>
          <p:spPr>
            <a:xfrm>
              <a:off x="1441704" y="3070860"/>
              <a:ext cx="43738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只靠测试用例写出来的脚本，测试的覆盖度和准确度完全不够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09600" y="3581400"/>
            <a:ext cx="10972800" cy="914400"/>
            <a:chOff x="609600" y="3581400"/>
            <a:chExt cx="10972800" cy="914400"/>
          </a:xfrm>
        </p:grpSpPr>
        <p:sp>
          <p:nvSpPr>
            <p:cNvPr id="18" name="Rectangle 17"/>
            <p:cNvSpPr/>
            <p:nvPr/>
          </p:nvSpPr>
          <p:spPr>
            <a:xfrm>
              <a:off x="609600" y="3581400"/>
              <a:ext cx="10972800" cy="914400"/>
            </a:xfrm>
            <a:prstGeom prst="roundRect">
              <a:avLst>
                <a:gd name="adj" fmla="val 833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9" name="Ellipse 18"/>
            <p:cNvSpPr/>
            <p:nvPr/>
          </p:nvSpPr>
          <p:spPr>
            <a:xfrm>
              <a:off x="876300" y="384810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19"/>
            <p:cNvSpPr txBox="1"/>
            <p:nvPr/>
          </p:nvSpPr>
          <p:spPr>
            <a:xfrm>
              <a:off x="1014058" y="39662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440942" y="383571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原因：脚本缺少上游知识库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1"/>
            <p:cNvSpPr txBox="1"/>
            <p:nvPr/>
          </p:nvSpPr>
          <p:spPr>
            <a:xfrm>
              <a:off x="1441704" y="4137660"/>
              <a:ext cx="5359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脚本缺少对需求的完整理解——需要需求文档、详细设计文档作为知识库支撑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09600" y="4648200"/>
            <a:ext cx="10972800" cy="1143000"/>
            <a:chOff x="609600" y="4648200"/>
            <a:chExt cx="10972800" cy="1143000"/>
          </a:xfrm>
        </p:grpSpPr>
        <p:sp>
          <p:nvSpPr>
            <p:cNvPr id="24" name="Rectangle 23"/>
            <p:cNvSpPr/>
            <p:nvPr/>
          </p:nvSpPr>
          <p:spPr>
            <a:xfrm>
              <a:off x="609600" y="4648200"/>
              <a:ext cx="10972800" cy="1143000"/>
            </a:xfrm>
            <a:prstGeom prst="roundRect">
              <a:avLst>
                <a:gd name="adj" fmla="val 666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Ellipse 24"/>
            <p:cNvSpPr/>
            <p:nvPr/>
          </p:nvSpPr>
          <p:spPr>
            <a:xfrm>
              <a:off x="876300" y="50292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6" name="TextBox 25"/>
            <p:cNvSpPr txBox="1"/>
            <p:nvPr/>
          </p:nvSpPr>
          <p:spPr>
            <a:xfrm>
              <a:off x="1014058" y="51473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440942" y="497871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由此引出核心问题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7"/>
            <p:cNvSpPr txBox="1"/>
            <p:nvPr/>
          </p:nvSpPr>
          <p:spPr>
            <a:xfrm>
              <a:off x="1441704" y="5280660"/>
              <a:ext cx="73091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如何让「需求 → 开发 → 测试」围绕同一条主线跑起来，并用 AI 把自动化测试的产出效率提上去？</a:t>
              </a:r>
              <a:endParaRPr lang="zh-CN" sz="120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976122" cy="438150"/>
            <a:chOff x="609600" y="568642"/>
            <a:chExt cx="976122" cy="438150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723900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目录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09600" y="1676400"/>
            <a:ext cx="10972800" cy="800100"/>
            <a:chOff x="609600" y="1676400"/>
            <a:chExt cx="10972800" cy="800100"/>
          </a:xfrm>
        </p:grpSpPr>
        <p:sp>
          <p:nvSpPr>
            <p:cNvPr id="5" name="Rectangle 5"/>
            <p:cNvSpPr/>
            <p:nvPr/>
          </p:nvSpPr>
          <p:spPr>
            <a:xfrm>
              <a:off x="609600" y="1676400"/>
              <a:ext cx="10972800" cy="800100"/>
            </a:xfrm>
            <a:prstGeom prst="roundRect">
              <a:avLst>
                <a:gd name="adj" fmla="val 9524"/>
              </a:avLst>
            </a:prstGeom>
            <a:solidFill>
              <a:schemeClr val="lt1"/>
            </a:solidFill>
            <a:ln w="19050">
              <a:solidFill>
                <a:srgbClr val="DAEAF8"/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800100" y="188595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37858" y="20040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363980" y="1876425"/>
              <a:ext cx="3238500" cy="2305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协同方案：从需求输入到测试的全链路</a:t>
              </a:r>
              <a:endPara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66266" y="2210752"/>
              <a:ext cx="37444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需求基线保覆盖度 · 结构化详设保准确度 · IDE + AI 提效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2628900"/>
            <a:ext cx="10972800" cy="800100"/>
            <a:chOff x="609600" y="2628900"/>
            <a:chExt cx="10972800" cy="800100"/>
          </a:xfrm>
        </p:grpSpPr>
        <p:sp>
          <p:nvSpPr>
            <p:cNvPr id="11" name="Rectangle 11"/>
            <p:cNvSpPr/>
            <p:nvPr/>
          </p:nvSpPr>
          <p:spPr>
            <a:xfrm>
              <a:off x="609600" y="2628900"/>
              <a:ext cx="10972800" cy="800100"/>
            </a:xfrm>
            <a:prstGeom prst="roundRect">
              <a:avLst>
                <a:gd name="adj" fmla="val 9524"/>
              </a:avLst>
            </a:prstGeom>
            <a:solidFill>
              <a:schemeClr val="lt1"/>
            </a:solidFill>
            <a:ln w="19050">
              <a:solidFill>
                <a:srgbClr val="DAEAF8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800100" y="283845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7858" y="29565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63980" y="2828925"/>
              <a:ext cx="22033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Playwright 自动化测试</a:t>
              </a:r>
              <a:endPara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66266" y="3163252"/>
              <a:ext cx="37494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两种使用方式对比 · 目录结构与分层 · 定位规范 · 失败归因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09600" y="3581400"/>
            <a:ext cx="10972800" cy="800100"/>
            <a:chOff x="609600" y="3581400"/>
            <a:chExt cx="10972800" cy="800100"/>
          </a:xfrm>
        </p:grpSpPr>
        <p:sp>
          <p:nvSpPr>
            <p:cNvPr id="17" name="Rectangle 17"/>
            <p:cNvSpPr/>
            <p:nvPr/>
          </p:nvSpPr>
          <p:spPr>
            <a:xfrm>
              <a:off x="609600" y="3581400"/>
              <a:ext cx="10972800" cy="800100"/>
            </a:xfrm>
            <a:prstGeom prst="roundRect">
              <a:avLst>
                <a:gd name="adj" fmla="val 9524"/>
              </a:avLst>
            </a:prstGeom>
            <a:solidFill>
              <a:schemeClr val="lt1"/>
            </a:solidFill>
            <a:ln w="19050">
              <a:solidFill>
                <a:srgbClr val="DAEAF8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800100" y="379095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7858" y="39090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63980" y="3781425"/>
              <a:ext cx="34492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实战案例：BILLCFG 商业化计费配置</a:t>
              </a:r>
              <a:endPara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66266" y="4115752"/>
              <a:ext cx="37217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V1.6.1（0→1）与 V1.6.3（1→1.x）两个场景的真实数据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09600" y="4533900"/>
            <a:ext cx="10972800" cy="800100"/>
            <a:chOff x="609600" y="4533900"/>
            <a:chExt cx="10972800" cy="800100"/>
          </a:xfrm>
        </p:grpSpPr>
        <p:sp>
          <p:nvSpPr>
            <p:cNvPr id="23" name="Rectangle 23"/>
            <p:cNvSpPr/>
            <p:nvPr/>
          </p:nvSpPr>
          <p:spPr>
            <a:xfrm>
              <a:off x="609600" y="4533900"/>
              <a:ext cx="10972800" cy="800100"/>
            </a:xfrm>
            <a:prstGeom prst="roundRect">
              <a:avLst>
                <a:gd name="adj" fmla="val 9524"/>
              </a:avLst>
            </a:prstGeom>
            <a:solidFill>
              <a:schemeClr val="lt1"/>
            </a:solidFill>
            <a:ln w="19050">
              <a:solidFill>
                <a:srgbClr val="DAEAF8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800100" y="474345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37858" y="48615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63980" y="47339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总结</a:t>
              </a:r>
              <a:endPara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66266" y="5068252"/>
              <a:ext cx="201070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回收核心问题 + 五条 Takeaway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02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9600" y="568642"/>
            <a:ext cx="7957566" cy="557403"/>
            <a:chOff x="609600" y="568642"/>
            <a:chExt cx="7957566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60227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全流程：需求 → 开发 → 测试 → 封版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73418" y="698182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一条主线贯穿到底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477000" y="1447800"/>
            <a:ext cx="5067300" cy="1143000"/>
            <a:chOff x="6477000" y="1447800"/>
            <a:chExt cx="5067300" cy="1143000"/>
          </a:xfrm>
        </p:grpSpPr>
        <p:sp>
          <p:nvSpPr>
            <p:cNvPr id="6" name="Rectangle 6"/>
            <p:cNvSpPr/>
            <p:nvPr/>
          </p:nvSpPr>
          <p:spPr>
            <a:xfrm>
              <a:off x="6477000" y="1447800"/>
              <a:ext cx="5067300" cy="114300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6767322" y="1692592"/>
              <a:ext cx="81641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REQ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728204" y="177546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一个功能点编号，贯穿全流程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728966" y="2039302"/>
              <a:ext cx="19895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所有产物围绕它可追踪、可回填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09600" y="1447800"/>
            <a:ext cx="5524500" cy="457200"/>
            <a:chOff x="609600" y="1447800"/>
            <a:chExt cx="5524500" cy="457200"/>
          </a:xfrm>
        </p:grpSpPr>
        <p:sp>
          <p:nvSpPr>
            <p:cNvPr id="11" name="Rectangle 11"/>
            <p:cNvSpPr/>
            <p:nvPr/>
          </p:nvSpPr>
          <p:spPr>
            <a:xfrm>
              <a:off x="609600" y="14478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31342" y="15878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产品原始输出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661666" y="1620202"/>
              <a:ext cx="14453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原始需求文档 / 原型图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5" name="Line 15"/>
          <p:cNvSpPr/>
          <p:nvPr/>
        </p:nvSpPr>
        <p:spPr>
          <a:xfrm>
            <a:off x="1143000" y="19050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19" name="Group 19"/>
          <p:cNvGrpSpPr/>
          <p:nvPr/>
        </p:nvGrpSpPr>
        <p:grpSpPr>
          <a:xfrm>
            <a:off x="609600" y="2095500"/>
            <a:ext cx="5524500" cy="457200"/>
            <a:chOff x="609600" y="2095500"/>
            <a:chExt cx="5524500" cy="457200"/>
          </a:xfrm>
        </p:grpSpPr>
        <p:sp>
          <p:nvSpPr>
            <p:cNvPr id="16" name="Rectangle 16"/>
            <p:cNvSpPr/>
            <p:nvPr/>
          </p:nvSpPr>
          <p:spPr>
            <a:xfrm>
              <a:off x="609600" y="20955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31342" y="22355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需求基线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661666" y="2267902"/>
              <a:ext cx="18814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01-需求文档.md + REQ 编号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0" name="Line 20"/>
          <p:cNvSpPr/>
          <p:nvPr/>
        </p:nvSpPr>
        <p:spPr>
          <a:xfrm>
            <a:off x="1143000" y="25527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24" name="Group 24"/>
          <p:cNvGrpSpPr/>
          <p:nvPr/>
        </p:nvGrpSpPr>
        <p:grpSpPr>
          <a:xfrm>
            <a:off x="609600" y="2743200"/>
            <a:ext cx="5524500" cy="457200"/>
            <a:chOff x="609600" y="2743200"/>
            <a:chExt cx="5524500" cy="457200"/>
          </a:xfrm>
        </p:grpSpPr>
        <p:sp>
          <p:nvSpPr>
            <p:cNvPr id="21" name="Rectangle 21"/>
            <p:cNvSpPr/>
            <p:nvPr/>
          </p:nvSpPr>
          <p:spPr>
            <a:xfrm>
              <a:off x="609600" y="27432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1342" y="28832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详细设计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661666" y="2915602"/>
              <a:ext cx="13535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02-详细设计文档.md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5" name="Line 25"/>
          <p:cNvSpPr/>
          <p:nvPr/>
        </p:nvSpPr>
        <p:spPr>
          <a:xfrm>
            <a:off x="1143000" y="32004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29" name="Group 29"/>
          <p:cNvGrpSpPr/>
          <p:nvPr/>
        </p:nvGrpSpPr>
        <p:grpSpPr>
          <a:xfrm>
            <a:off x="609600" y="3390900"/>
            <a:ext cx="5524500" cy="457200"/>
            <a:chOff x="609600" y="3390900"/>
            <a:chExt cx="5524500" cy="457200"/>
          </a:xfrm>
        </p:grpSpPr>
        <p:sp>
          <p:nvSpPr>
            <p:cNvPr id="26" name="Rectangle 26"/>
            <p:cNvSpPr/>
            <p:nvPr/>
          </p:nvSpPr>
          <p:spPr>
            <a:xfrm>
              <a:off x="609600" y="33909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342" y="35309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开发实现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661666" y="3563302"/>
              <a:ext cx="16362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代码 + prd-to-code 映射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0" name="Line 30"/>
          <p:cNvSpPr/>
          <p:nvPr/>
        </p:nvSpPr>
        <p:spPr>
          <a:xfrm>
            <a:off x="1143000" y="38481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34" name="Group 34"/>
          <p:cNvGrpSpPr/>
          <p:nvPr/>
        </p:nvGrpSpPr>
        <p:grpSpPr>
          <a:xfrm>
            <a:off x="609600" y="4038600"/>
            <a:ext cx="5524500" cy="457200"/>
            <a:chOff x="609600" y="4038600"/>
            <a:chExt cx="5524500" cy="457200"/>
          </a:xfrm>
        </p:grpSpPr>
        <p:sp>
          <p:nvSpPr>
            <p:cNvPr id="31" name="Rectangle 31"/>
            <p:cNvSpPr/>
            <p:nvPr/>
          </p:nvSpPr>
          <p:spPr>
            <a:xfrm>
              <a:off x="609600" y="40386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1342" y="4178618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测试设计 + 自动化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661666" y="4211002"/>
              <a:ext cx="22784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03-测试用例.md + ATS-*.spec.ts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5" name="Line 35"/>
          <p:cNvSpPr/>
          <p:nvPr/>
        </p:nvSpPr>
        <p:spPr>
          <a:xfrm>
            <a:off x="1143000" y="44958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39" name="Group 39"/>
          <p:cNvGrpSpPr/>
          <p:nvPr/>
        </p:nvGrpSpPr>
        <p:grpSpPr>
          <a:xfrm>
            <a:off x="609600" y="4686300"/>
            <a:ext cx="5524500" cy="457200"/>
            <a:chOff x="609600" y="4686300"/>
            <a:chExt cx="5524500" cy="457200"/>
          </a:xfrm>
        </p:grpSpPr>
        <p:sp>
          <p:nvSpPr>
            <p:cNvPr id="36" name="Rectangle 36"/>
            <p:cNvSpPr/>
            <p:nvPr/>
          </p:nvSpPr>
          <p:spPr>
            <a:xfrm>
              <a:off x="609600" y="46863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31342" y="48263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执行回归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661666" y="4858702"/>
              <a:ext cx="13040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发现问题 → 缺陷闭环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0" name="Line 40"/>
          <p:cNvSpPr/>
          <p:nvPr/>
        </p:nvSpPr>
        <p:spPr>
          <a:xfrm>
            <a:off x="1143000" y="51435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44" name="Group 44"/>
          <p:cNvGrpSpPr/>
          <p:nvPr/>
        </p:nvGrpSpPr>
        <p:grpSpPr>
          <a:xfrm>
            <a:off x="609600" y="5334000"/>
            <a:ext cx="5524500" cy="457200"/>
            <a:chOff x="609600" y="5334000"/>
            <a:chExt cx="5524500" cy="457200"/>
          </a:xfrm>
        </p:grpSpPr>
        <p:sp>
          <p:nvSpPr>
            <p:cNvPr id="41" name="Rectangle 41"/>
            <p:cNvSpPr/>
            <p:nvPr/>
          </p:nvSpPr>
          <p:spPr>
            <a:xfrm>
              <a:off x="609600" y="53340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31342" y="547401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封版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661666" y="5506402"/>
              <a:ext cx="16957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CHANGELOG.md + Git Tag</a:t>
              </a:r>
              <a:endParaRPr lang="zh-CN" sz="105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477000" y="2819400"/>
            <a:ext cx="5067300" cy="838200"/>
            <a:chOff x="6477000" y="2819400"/>
            <a:chExt cx="5067300" cy="838200"/>
          </a:xfrm>
        </p:grpSpPr>
        <p:sp>
          <p:nvSpPr>
            <p:cNvPr id="45" name="Rectangle 45"/>
            <p:cNvSpPr/>
            <p:nvPr/>
          </p:nvSpPr>
          <p:spPr>
            <a:xfrm>
              <a:off x="6477000" y="2819400"/>
              <a:ext cx="5067300" cy="838200"/>
            </a:xfrm>
            <a:prstGeom prst="roundRect">
              <a:avLst>
                <a:gd name="adj" fmla="val 9091"/>
              </a:avLst>
            </a:prstGeom>
            <a:solidFill>
              <a:schemeClr val="lt1"/>
            </a:solidFill>
            <a:ln w="19050">
              <a:solidFill>
                <a:schemeClr val="accent3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699504" y="2994660"/>
              <a:ext cx="11765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通过 → 结果回填</a:t>
              </a:r>
              <a:endParaRPr lang="zh-CN" sz="120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700266" y="3277552"/>
              <a:ext cx="26680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回填 04-测试报告文档.md，纳入版本台账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477000" y="3886200"/>
            <a:ext cx="5067300" cy="1219200"/>
            <a:chOff x="6477000" y="3886200"/>
            <a:chExt cx="5067300" cy="1219200"/>
          </a:xfrm>
        </p:grpSpPr>
        <p:sp>
          <p:nvSpPr>
            <p:cNvPr id="49" name="Rectangle 49"/>
            <p:cNvSpPr/>
            <p:nvPr/>
          </p:nvSpPr>
          <p:spPr>
            <a:xfrm>
              <a:off x="6477000" y="3886200"/>
              <a:ext cx="5067300" cy="1219200"/>
            </a:xfrm>
            <a:prstGeom prst="roundRect">
              <a:avLst>
                <a:gd name="adj" fmla="val 6250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699504" y="4061460"/>
              <a:ext cx="14996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发现缺陷 → 缺陷闭环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700266" y="4325302"/>
              <a:ext cx="29753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缺陷单挂 REQ → 开发修复（PR 挂同一 REQ）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700266" y="4572952"/>
              <a:ext cx="21239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→ 回归验证同一 REQ → 结果回填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6471666" y="5411152"/>
            <a:ext cx="358684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整理 + 澄清 + 结构化：把产品原始输出收敛为结构化基线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5" name="TextBox 55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03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10256520" cy="557403"/>
            <a:chOff x="609600" y="568642"/>
            <a:chExt cx="10256520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1000429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需求侧：为什么需要「需求基线化」？（决定测试覆盖度）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09600" y="1428750"/>
            <a:ext cx="3505200" cy="1676400"/>
            <a:chOff x="609600" y="1428750"/>
            <a:chExt cx="3505200" cy="1676400"/>
          </a:xfrm>
        </p:grpSpPr>
        <p:sp>
          <p:nvSpPr>
            <p:cNvPr id="5" name="Rectangle 5"/>
            <p:cNvSpPr/>
            <p:nvPr/>
          </p:nvSpPr>
          <p:spPr>
            <a:xfrm>
              <a:off x="609600" y="14287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31342" y="1606868"/>
              <a:ext cx="14480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① 格式与风格不同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32104" y="1927860"/>
              <a:ext cx="168859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不同产品经理产出的需求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描述差异大，AI 解析时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容易遗漏关键约束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343400" y="1428750"/>
            <a:ext cx="3505200" cy="1676400"/>
            <a:chOff x="4343400" y="1428750"/>
            <a:chExt cx="3505200" cy="1676400"/>
          </a:xfrm>
        </p:grpSpPr>
        <p:sp>
          <p:nvSpPr>
            <p:cNvPr id="9" name="Rectangle 9"/>
            <p:cNvSpPr/>
            <p:nvPr/>
          </p:nvSpPr>
          <p:spPr>
            <a:xfrm>
              <a:off x="4343400" y="14287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565142" y="1606868"/>
              <a:ext cx="14480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② 完整描述难找全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565904" y="1927860"/>
              <a:ext cx="164287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需求往往只给增量点，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开发/AI 需要完整描述，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得翻多个版本文档拼凑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8077200" y="1428750"/>
            <a:ext cx="3505200" cy="1676400"/>
            <a:chOff x="8077200" y="1428750"/>
            <a:chExt cx="3505200" cy="1676400"/>
          </a:xfrm>
        </p:grpSpPr>
        <p:sp>
          <p:nvSpPr>
            <p:cNvPr id="13" name="Rectangle 13"/>
            <p:cNvSpPr/>
            <p:nvPr/>
          </p:nvSpPr>
          <p:spPr>
            <a:xfrm>
              <a:off x="8077200" y="14287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298942" y="1606868"/>
              <a:ext cx="16298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③ 逻辑藏在原型图里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299704" y="1927860"/>
              <a:ext cx="146761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部分逻辑只在原型图/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页面截图中，AI 读图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理解业务规则易出错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9600" y="3295650"/>
            <a:ext cx="3505200" cy="1676400"/>
            <a:chOff x="609600" y="3295650"/>
            <a:chExt cx="3505200" cy="1676400"/>
          </a:xfrm>
        </p:grpSpPr>
        <p:sp>
          <p:nvSpPr>
            <p:cNvPr id="17" name="Rectangle 17"/>
            <p:cNvSpPr/>
            <p:nvPr/>
          </p:nvSpPr>
          <p:spPr>
            <a:xfrm>
              <a:off x="609600" y="32956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31342" y="3473768"/>
              <a:ext cx="12663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④ 缺少交互逻辑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2104" y="3794760"/>
              <a:ext cx="168859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需求只写「有什么」缺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「怎么交互」——状态流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转、联动、边界行为缺失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4343400" y="3295650"/>
            <a:ext cx="3505200" cy="1676400"/>
            <a:chOff x="4343400" y="3295650"/>
            <a:chExt cx="3505200" cy="1676400"/>
          </a:xfrm>
        </p:grpSpPr>
        <p:sp>
          <p:nvSpPr>
            <p:cNvPr id="21" name="Rectangle 21"/>
            <p:cNvSpPr/>
            <p:nvPr/>
          </p:nvSpPr>
          <p:spPr>
            <a:xfrm>
              <a:off x="4343400" y="32956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565142" y="3473768"/>
              <a:ext cx="902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⑤ 追溯困难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65904" y="3794760"/>
              <a:ext cx="168859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脚本、缺陷、代码与需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求点缺少关联，出问题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时说不清测的是哪个需求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077200" y="3295650"/>
            <a:ext cx="3505200" cy="1676400"/>
            <a:chOff x="8077200" y="3295650"/>
            <a:chExt cx="3505200" cy="1676400"/>
          </a:xfrm>
        </p:grpSpPr>
        <p:sp>
          <p:nvSpPr>
            <p:cNvPr id="25" name="Rectangle 25"/>
            <p:cNvSpPr/>
            <p:nvPr/>
          </p:nvSpPr>
          <p:spPr>
            <a:xfrm>
              <a:off x="8077200" y="32956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297418" y="359378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直接影响覆盖度</a:t>
              </a:r>
              <a:endParaRPr lang="zh-CN" sz="16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99704" y="3985260"/>
              <a:ext cx="138379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用例从需求派生——</a:t>
              </a:r>
              <a:b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需求没写到的交互，</a:t>
              </a:r>
              <a:b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测试就覆盖不到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09600" y="5295900"/>
            <a:ext cx="10972800" cy="533400"/>
            <a:chOff x="609600" y="5295900"/>
            <a:chExt cx="10972800" cy="533400"/>
          </a:xfrm>
        </p:grpSpPr>
        <p:sp>
          <p:nvSpPr>
            <p:cNvPr id="29" name="Rectangle 29"/>
            <p:cNvSpPr/>
            <p:nvPr/>
          </p:nvSpPr>
          <p:spPr>
            <a:xfrm>
              <a:off x="609600" y="529590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803345" y="5493068"/>
              <a:ext cx="45853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解药：把零散的需求收敛为「结构化基线」——下一页展开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04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5774817" cy="438150"/>
            <a:chOff x="609600" y="568642"/>
            <a:chExt cx="5774817" cy="438150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5522595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方案：需求结构化 + 版本增量回写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57200" y="1261110"/>
            <a:ext cx="5334000" cy="3619500"/>
            <a:chOff x="457200" y="1261110"/>
            <a:chExt cx="5334000" cy="3619500"/>
          </a:xfrm>
        </p:grpSpPr>
        <p:sp>
          <p:nvSpPr>
            <p:cNvPr id="5" name="Rectangle 5"/>
            <p:cNvSpPr/>
            <p:nvPr/>
          </p:nvSpPr>
          <p:spPr>
            <a:xfrm>
              <a:off x="457200" y="1261110"/>
              <a:ext cx="5334000" cy="3619500"/>
            </a:xfrm>
            <a:prstGeom prst="roundRect">
              <a:avLst>
                <a:gd name="adj" fmla="val 210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06018" y="1669732"/>
              <a:ext cx="104775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需求基线化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08304" y="2023110"/>
              <a:ext cx="32004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把产品原始输出收敛为结构化、</a:t>
              </a:r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模板统一</a:t>
              </a: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的文档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Rectangle 8"/>
            <p:cNvSpPr/>
            <p:nvPr/>
          </p:nvSpPr>
          <p:spPr>
            <a:xfrm>
              <a:off x="914400" y="2400300"/>
              <a:ext cx="1905000" cy="495300"/>
            </a:xfrm>
            <a:prstGeom prst="roundRect">
              <a:avLst>
                <a:gd name="adj" fmla="val 15385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437513" y="25155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原始需求文档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49540" y="270605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原型图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Line 11"/>
            <p:cNvSpPr/>
            <p:nvPr/>
          </p:nvSpPr>
          <p:spPr>
            <a:xfrm>
              <a:off x="2857500" y="2647950"/>
              <a:ext cx="533400" cy="1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2" name="Rectangle 12"/>
            <p:cNvSpPr/>
            <p:nvPr/>
          </p:nvSpPr>
          <p:spPr>
            <a:xfrm>
              <a:off x="3429000" y="2400300"/>
              <a:ext cx="2133600" cy="495300"/>
            </a:xfrm>
            <a:prstGeom prst="roundRect">
              <a:avLst>
                <a:gd name="adj" fmla="val 1538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869779" y="2575560"/>
              <a:ext cx="12520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01-需求文档.md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08304" y="3147060"/>
              <a:ext cx="268681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整理 + 澄清 + 结构化，统一模板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每个功能点打上 REQ 编号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skill：requirement-doc-bootstrap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09066" y="4268152"/>
              <a:ext cx="31694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AI 可稳定消费：格式统一、口径一致、一处可查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248400" y="1428750"/>
            <a:ext cx="5334000" cy="3619500"/>
            <a:chOff x="6248400" y="1428750"/>
            <a:chExt cx="5334000" cy="3619500"/>
          </a:xfrm>
        </p:grpSpPr>
        <p:sp>
          <p:nvSpPr>
            <p:cNvPr id="17" name="Rectangle 17"/>
            <p:cNvSpPr/>
            <p:nvPr/>
          </p:nvSpPr>
          <p:spPr>
            <a:xfrm>
              <a:off x="6248400" y="1428750"/>
              <a:ext cx="5334000" cy="3619500"/>
            </a:xfrm>
            <a:prstGeom prst="roundRect">
              <a:avLst>
                <a:gd name="adj" fmla="val 210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544818" y="1669732"/>
              <a:ext cx="225044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版本增量回写基线</a:t>
              </a:r>
              <a:r>
                <a:rPr lang="en-US" alt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(</a:t>
              </a:r>
              <a:r>
                <a:rPr lang="zh-CN" altLang="en-US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全量</a:t>
              </a:r>
              <a:r>
                <a:rPr lang="en-US" alt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)</a:t>
              </a:r>
              <a:endParaRPr lang="en-US" alt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547104" y="2023110"/>
              <a:ext cx="36734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版本关闭时，把本版增量按 REQ 合并回模块基线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553200" y="2400300"/>
              <a:ext cx="1714500" cy="495300"/>
            </a:xfrm>
            <a:prstGeom prst="roundRect">
              <a:avLst>
                <a:gd name="adj" fmla="val 15385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081266" y="25755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版本增量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Line 22"/>
            <p:cNvSpPr/>
            <p:nvPr/>
          </p:nvSpPr>
          <p:spPr>
            <a:xfrm>
              <a:off x="8305800" y="2647950"/>
              <a:ext cx="533400" cy="1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23" name="Rectangle 23"/>
            <p:cNvSpPr/>
            <p:nvPr/>
          </p:nvSpPr>
          <p:spPr>
            <a:xfrm>
              <a:off x="8877300" y="2400300"/>
              <a:ext cx="2400300" cy="495300"/>
            </a:xfrm>
            <a:prstGeom prst="roundRect">
              <a:avLst>
                <a:gd name="adj" fmla="val 1538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425178" y="25755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模块基线（全量）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547104" y="3147060"/>
              <a:ext cx="269443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skill：version-archive（版本归档）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完整描述始终一处可查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开发/AI 无需翻多个版本文档拼凑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47866" y="4268152"/>
              <a:ext cx="23076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解决痛点②：增量需求点 vs 完整描述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3254807" y="5585460"/>
            <a:ext cx="568238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知识库颗粒度越细，测试越准——但整理与审核时间也越多（权衡详见实战章节）</a:t>
            </a:r>
            <a:endParaRPr lang="zh-CN" sz="120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05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" name="Group 4"/>
          <p:cNvGrpSpPr/>
          <p:nvPr/>
        </p:nvGrpSpPr>
        <p:grpSpPr>
          <a:xfrm>
            <a:off x="609600" y="568642"/>
            <a:ext cx="9489186" cy="557403"/>
            <a:chOff x="609600" y="568642"/>
            <a:chExt cx="9489186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923696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详设侧：为什么需要结构化详设？（决定测试准确度）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09600" y="1390650"/>
            <a:ext cx="10972800" cy="533400"/>
            <a:chOff x="609600" y="1390650"/>
            <a:chExt cx="10972800" cy="533400"/>
          </a:xfrm>
        </p:grpSpPr>
        <p:sp>
          <p:nvSpPr>
            <p:cNvPr id="5" name="Rectangle 5"/>
            <p:cNvSpPr/>
            <p:nvPr/>
          </p:nvSpPr>
          <p:spPr>
            <a:xfrm>
              <a:off x="609600" y="1390650"/>
              <a:ext cx="5486400" cy="533400"/>
            </a:xfrm>
            <a:prstGeom prst="roundRect">
              <a:avLst>
                <a:gd name="adj" fmla="val 14286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982914" y="158781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需求文档管「测没测到」＝覆盖度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Rectangle 7"/>
            <p:cNvSpPr/>
            <p:nvPr/>
          </p:nvSpPr>
          <p:spPr>
            <a:xfrm>
              <a:off x="6096000" y="1390650"/>
              <a:ext cx="5486400" cy="5334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560183" y="15878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详设管「测得对不对」＝准确度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3504" y="2156460"/>
            <a:ext cx="6801978" cy="234696"/>
            <a:chOff x="603504" y="2156460"/>
            <a:chExt cx="6801978" cy="234696"/>
          </a:xfrm>
        </p:grpSpPr>
        <p:sp>
          <p:nvSpPr>
            <p:cNvPr id="10" name="TextBox 10"/>
            <p:cNvSpPr txBox="1"/>
            <p:nvPr/>
          </p:nvSpPr>
          <p:spPr>
            <a:xfrm>
              <a:off x="603504" y="2156460"/>
              <a:ext cx="68019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02-详细设计文档.md 中每个功能点（REQ）沉淀五类关键信息，是写测试脚本的直接输入：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09600" y="2457450"/>
            <a:ext cx="6286500" cy="2514600"/>
            <a:chOff x="609600" y="2457450"/>
            <a:chExt cx="6286500" cy="2514600"/>
          </a:xfrm>
        </p:grpSpPr>
        <p:sp>
          <p:nvSpPr>
            <p:cNvPr id="12" name="Rectangle 12"/>
            <p:cNvSpPr/>
            <p:nvPr/>
          </p:nvSpPr>
          <p:spPr>
            <a:xfrm>
              <a:off x="609600" y="2457450"/>
              <a:ext cx="62865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51154" y="2594610"/>
              <a:ext cx="19874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详设内容（按 REQ 组织）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184904" y="25946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对测试脚本的作用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09600" y="2876550"/>
              <a:ext cx="6286500" cy="419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51154" y="30137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前端路由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4904" y="30137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决定测试入口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" y="3295650"/>
              <a:ext cx="6286500" cy="4191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51154" y="34328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接口信息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84904" y="34328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决定请求与响应断言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" y="3714750"/>
              <a:ext cx="6286500" cy="419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51154" y="38519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字段名称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184904" y="38519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决定数据与文案校验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09600" y="4133850"/>
              <a:ext cx="6286500" cy="4191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51154" y="42710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交互逻辑处理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184904" y="42710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决定操作步骤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09600" y="4552950"/>
              <a:ext cx="6286500" cy="419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51154" y="4690110"/>
              <a:ext cx="18796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data-testid 清单（§7）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4904" y="46901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决定元素定位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7124700" y="2457450"/>
            <a:ext cx="4457700" cy="2514600"/>
            <a:chOff x="7124700" y="2457450"/>
            <a:chExt cx="4457700" cy="2514600"/>
          </a:xfrm>
        </p:grpSpPr>
        <p:sp>
          <p:nvSpPr>
            <p:cNvPr id="31" name="Rectangle 31"/>
            <p:cNvSpPr/>
            <p:nvPr/>
          </p:nvSpPr>
          <p:spPr>
            <a:xfrm>
              <a:off x="7124700" y="2457450"/>
              <a:ext cx="4457700" cy="2514600"/>
            </a:xfrm>
            <a:prstGeom prst="roundRect">
              <a:avLst>
                <a:gd name="adj" fmla="val 3030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384542" y="265461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反过来说：没有结构化详设</a:t>
              </a:r>
              <a:endParaRPr lang="zh-CN" sz="13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386066" y="3010852"/>
              <a:ext cx="2524316" cy="662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800"/>
                </a:lnSpc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路由、接口、字段、testid 这些信息在 01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和 03 里都找不到，AI 写脚本只能自己去翻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前端代码和接口文档——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386066" y="3887152"/>
              <a:ext cx="2090928" cy="4339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marL="113665" indent="-113665" algn="l">
                <a:lnSpc>
                  <a:spcPts val="18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缺 testid → 只能用脆弱 CSS 定位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13665" indent="-113665" algn="l">
                <a:lnSpc>
                  <a:spcPts val="18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接口/字段断言照抄代码实现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385304" y="45758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断言自然不准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09600" y="5219700"/>
            <a:ext cx="10972800" cy="609600"/>
            <a:chOff x="609600" y="5219700"/>
            <a:chExt cx="10972800" cy="609600"/>
          </a:xfrm>
        </p:grpSpPr>
        <p:sp>
          <p:nvSpPr>
            <p:cNvPr id="37" name="Rectangle 37"/>
            <p:cNvSpPr/>
            <p:nvPr/>
          </p:nvSpPr>
          <p:spPr>
            <a:xfrm>
              <a:off x="609600" y="5219700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532757" y="5289232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断言以文档为准，不以代码为准</a:t>
              </a:r>
              <a:endPara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514544" y="5601652"/>
              <a:ext cx="51629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05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文案/业务规则对齐 01，结构/字段/定位对齐 02；前端代码只用于核对定位与实现</a:t>
              </a:r>
              <a:endParaRPr lang="zh-CN" sz="105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07 / 24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4"/>
          <p:cNvGrpSpPr/>
          <p:nvPr/>
        </p:nvGrpSpPr>
        <p:grpSpPr>
          <a:xfrm>
            <a:off x="609600" y="454342"/>
            <a:ext cx="8067591" cy="557403"/>
            <a:chOff x="609600" y="454342"/>
            <a:chExt cx="8067591" cy="557403"/>
          </a:xfrm>
        </p:grpSpPr>
        <p:sp>
          <p:nvSpPr>
            <p:cNvPr id="72" name="Rectangle 2"/>
            <p:cNvSpPr/>
            <p:nvPr/>
          </p:nvSpPr>
          <p:spPr>
            <a:xfrm>
              <a:off x="609600" y="4572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3" name="TextBox 3"/>
            <p:cNvSpPr txBox="1"/>
            <p:nvPr/>
          </p:nvSpPr>
          <p:spPr>
            <a:xfrm>
              <a:off x="861822" y="454342"/>
              <a:ext cx="781536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AI 与技能：如何全流程提效？（决定效率）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4" name="Group 45"/>
          <p:cNvGrpSpPr/>
          <p:nvPr/>
        </p:nvGrpSpPr>
        <p:grpSpPr>
          <a:xfrm>
            <a:off x="609600" y="990600"/>
            <a:ext cx="10972800" cy="3790950"/>
            <a:chOff x="609600" y="990600"/>
            <a:chExt cx="10972800" cy="3790950"/>
          </a:xfrm>
        </p:grpSpPr>
        <p:sp>
          <p:nvSpPr>
            <p:cNvPr id="75" name="Rectangle 5"/>
            <p:cNvSpPr/>
            <p:nvPr/>
          </p:nvSpPr>
          <p:spPr>
            <a:xfrm>
              <a:off x="609600" y="990600"/>
              <a:ext cx="133350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6" name="TextBox 6"/>
            <p:cNvSpPr txBox="1"/>
            <p:nvPr/>
          </p:nvSpPr>
          <p:spPr>
            <a:xfrm>
              <a:off x="756666" y="11630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环节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7" name="Rectangle 7"/>
            <p:cNvSpPr/>
            <p:nvPr/>
          </p:nvSpPr>
          <p:spPr>
            <a:xfrm>
              <a:off x="1943100" y="990600"/>
              <a:ext cx="285750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8" name="TextBox 8"/>
            <p:cNvSpPr txBox="1"/>
            <p:nvPr/>
          </p:nvSpPr>
          <p:spPr>
            <a:xfrm>
              <a:off x="2090166" y="116300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做什么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9" name="Rectangle 9"/>
            <p:cNvSpPr/>
            <p:nvPr/>
          </p:nvSpPr>
          <p:spPr>
            <a:xfrm>
              <a:off x="4800600" y="990600"/>
              <a:ext cx="314325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0" name="TextBox 10"/>
            <p:cNvSpPr txBox="1"/>
            <p:nvPr/>
          </p:nvSpPr>
          <p:spPr>
            <a:xfrm>
              <a:off x="4947666" y="116300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使用的技能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1" name="Rectangle 11"/>
            <p:cNvSpPr/>
            <p:nvPr/>
          </p:nvSpPr>
          <p:spPr>
            <a:xfrm>
              <a:off x="7943850" y="990600"/>
              <a:ext cx="152400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2" name="TextBox 12"/>
            <p:cNvSpPr txBox="1"/>
            <p:nvPr/>
          </p:nvSpPr>
          <p:spPr>
            <a:xfrm>
              <a:off x="8090916" y="116300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谁来做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3" name="Rectangle 13"/>
            <p:cNvSpPr/>
            <p:nvPr/>
          </p:nvSpPr>
          <p:spPr>
            <a:xfrm>
              <a:off x="9467850" y="990600"/>
              <a:ext cx="211455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4" name="TextBox 14"/>
            <p:cNvSpPr txBox="1"/>
            <p:nvPr/>
          </p:nvSpPr>
          <p:spPr>
            <a:xfrm>
              <a:off x="9614916" y="11630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产出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5" name="Rectangle 15"/>
            <p:cNvSpPr/>
            <p:nvPr/>
          </p:nvSpPr>
          <p:spPr>
            <a:xfrm>
              <a:off x="609600" y="1447800"/>
              <a:ext cx="10972800" cy="6667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6" name="TextBox 16"/>
            <p:cNvSpPr txBox="1"/>
            <p:nvPr/>
          </p:nvSpPr>
          <p:spPr>
            <a:xfrm>
              <a:off x="756666" y="1658302"/>
              <a:ext cx="7838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1. 文档准备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7" name="TextBox 17"/>
            <p:cNvSpPr txBox="1"/>
            <p:nvPr/>
          </p:nvSpPr>
          <p:spPr>
            <a:xfrm>
              <a:off x="2090547" y="1609249"/>
              <a:ext cx="1540764" cy="400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需求基线 → 详设 → 测试用例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（01/02/03）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8" name="TextBox 18"/>
            <p:cNvSpPr txBox="1"/>
            <p:nvPr/>
          </p:nvSpPr>
          <p:spPr>
            <a:xfrm>
              <a:off x="4948238" y="1452880"/>
              <a:ext cx="1672590" cy="557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requirement-doc-bootstrap /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detail-design-bootstrap /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testcase-generation</a:t>
              </a:r>
              <a:endParaRPr lang="zh-CN" sz="90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89" name="TextBox 19"/>
            <p:cNvSpPr txBox="1"/>
            <p:nvPr/>
          </p:nvSpPr>
          <p:spPr>
            <a:xfrm>
              <a:off x="8091297" y="1723549"/>
              <a:ext cx="8212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skill + 人确认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0" name="TextBox 20"/>
            <p:cNvSpPr txBox="1"/>
            <p:nvPr/>
          </p:nvSpPr>
          <p:spPr>
            <a:xfrm>
              <a:off x="9615297" y="1609249"/>
              <a:ext cx="949579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01/02/03 文档 +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REQ / FT / IT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1" name="Rectangle 21"/>
            <p:cNvSpPr/>
            <p:nvPr/>
          </p:nvSpPr>
          <p:spPr>
            <a:xfrm>
              <a:off x="609600" y="2114550"/>
              <a:ext cx="10972800" cy="6667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92" name="TextBox 22"/>
            <p:cNvSpPr txBox="1"/>
            <p:nvPr/>
          </p:nvSpPr>
          <p:spPr>
            <a:xfrm>
              <a:off x="756666" y="2325052"/>
              <a:ext cx="9252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2. 自动化建设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3" name="TextBox 23"/>
            <p:cNvSpPr txBox="1"/>
            <p:nvPr/>
          </p:nvSpPr>
          <p:spPr>
            <a:xfrm>
              <a:off x="2090547" y="2275999"/>
              <a:ext cx="18766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生成目录与脚本骨架 + 页面摸底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4" name="TextBox 24"/>
            <p:cNvSpPr txBox="1"/>
            <p:nvPr/>
          </p:nvSpPr>
          <p:spPr>
            <a:xfrm>
              <a:off x="4948238" y="2284095"/>
              <a:ext cx="174117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ui/api-automation-bootstrap /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playwright-cli-testing</a:t>
              </a:r>
              <a:endParaRPr lang="zh-CN" sz="90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95" name="TextBox 25"/>
            <p:cNvSpPr txBox="1"/>
            <p:nvPr/>
          </p:nvSpPr>
          <p:spPr>
            <a:xfrm>
              <a:off x="8091297" y="2333149"/>
              <a:ext cx="1283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6" name="TextBox 26"/>
            <p:cNvSpPr txBox="1"/>
            <p:nvPr/>
          </p:nvSpPr>
          <p:spPr>
            <a:xfrm>
              <a:off x="9615297" y="2275999"/>
              <a:ext cx="1484757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spec/page/fixture/data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骨架 + testid 快照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7" name="Rectangle 27"/>
            <p:cNvSpPr/>
            <p:nvPr/>
          </p:nvSpPr>
          <p:spPr>
            <a:xfrm>
              <a:off x="609600" y="2781300"/>
              <a:ext cx="10972800" cy="6667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8" name="TextBox 28"/>
            <p:cNvSpPr txBox="1"/>
            <p:nvPr/>
          </p:nvSpPr>
          <p:spPr>
            <a:xfrm>
              <a:off x="756666" y="2991802"/>
              <a:ext cx="7838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3. 脚本实现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9" name="TextBox 29"/>
            <p:cNvSpPr txBox="1"/>
            <p:nvPr/>
          </p:nvSpPr>
          <p:spPr>
            <a:xfrm>
              <a:off x="2090547" y="294274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填充真实交互、断言、测试数据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0" name="TextBox 30"/>
            <p:cNvSpPr txBox="1"/>
            <p:nvPr/>
          </p:nvSpPr>
          <p:spPr>
            <a:xfrm>
              <a:off x="4948238" y="2950845"/>
              <a:ext cx="981075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playwright-test-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implementation</a:t>
              </a:r>
              <a:endParaRPr lang="zh-CN" sz="90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01" name="TextBox 31"/>
            <p:cNvSpPr txBox="1"/>
            <p:nvPr/>
          </p:nvSpPr>
          <p:spPr>
            <a:xfrm>
              <a:off x="8091297" y="2999899"/>
              <a:ext cx="12784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AI + 人（审核硬性）</a:t>
              </a:r>
              <a:endParaRPr lang="zh-CN" sz="98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2" name="TextBox 32"/>
            <p:cNvSpPr txBox="1"/>
            <p:nvPr/>
          </p:nvSpPr>
          <p:spPr>
            <a:xfrm>
              <a:off x="9615297" y="2942749"/>
              <a:ext cx="899795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可执行的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ATS-*.spec.ts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3" name="Rectangle 33"/>
            <p:cNvSpPr/>
            <p:nvPr/>
          </p:nvSpPr>
          <p:spPr>
            <a:xfrm>
              <a:off x="609600" y="3448050"/>
              <a:ext cx="10972800" cy="6667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04" name="TextBox 34"/>
            <p:cNvSpPr txBox="1"/>
            <p:nvPr/>
          </p:nvSpPr>
          <p:spPr>
            <a:xfrm>
              <a:off x="756666" y="3658552"/>
              <a:ext cx="7838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4. 执行回归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5" name="TextBox 35"/>
            <p:cNvSpPr txBox="1"/>
            <p:nvPr/>
          </p:nvSpPr>
          <p:spPr>
            <a:xfrm>
              <a:off x="2090547" y="36094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确定性执行测试用例，自动出报告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6" name="TextBox 36"/>
            <p:cNvSpPr txBox="1"/>
            <p:nvPr/>
          </p:nvSpPr>
          <p:spPr>
            <a:xfrm>
              <a:off x="4948238" y="3617595"/>
              <a:ext cx="981075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playwright-test-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implementation</a:t>
              </a:r>
              <a:endParaRPr lang="zh-CN" sz="90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07" name="TextBox 37"/>
            <p:cNvSpPr txBox="1"/>
            <p:nvPr/>
          </p:nvSpPr>
          <p:spPr>
            <a:xfrm>
              <a:off x="8091297" y="3666649"/>
              <a:ext cx="13976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Playwright（确定性）</a:t>
              </a:r>
              <a:endParaRPr lang="zh-CN" sz="98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8" name="TextBox 38"/>
            <p:cNvSpPr txBox="1"/>
            <p:nvPr/>
          </p:nvSpPr>
          <p:spPr>
            <a:xfrm>
              <a:off x="9615297" y="36666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测试报告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9" name="Rectangle 39"/>
            <p:cNvSpPr/>
            <p:nvPr/>
          </p:nvSpPr>
          <p:spPr>
            <a:xfrm>
              <a:off x="609600" y="4114800"/>
              <a:ext cx="10972800" cy="6667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10" name="TextBox 40"/>
            <p:cNvSpPr txBox="1"/>
            <p:nvPr/>
          </p:nvSpPr>
          <p:spPr>
            <a:xfrm>
              <a:off x="756666" y="4325302"/>
              <a:ext cx="12079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5. 失败分析与回填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1" name="TextBox 41"/>
            <p:cNvSpPr txBox="1"/>
            <p:nvPr/>
          </p:nvSpPr>
          <p:spPr>
            <a:xfrm>
              <a:off x="2090547" y="4276249"/>
              <a:ext cx="1957705" cy="400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失败归因（缺陷/脚本/环境/数据）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+ 更新测试报告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2" name="TextBox 42"/>
            <p:cNvSpPr txBox="1"/>
            <p:nvPr/>
          </p:nvSpPr>
          <p:spPr>
            <a:xfrm>
              <a:off x="4948238" y="4284345"/>
              <a:ext cx="981075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playwright-test-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implementation</a:t>
              </a:r>
              <a:endParaRPr lang="zh-CN" sz="90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13" name="TextBox 43"/>
            <p:cNvSpPr txBox="1"/>
            <p:nvPr/>
          </p:nvSpPr>
          <p:spPr>
            <a:xfrm>
              <a:off x="8091297" y="4333399"/>
              <a:ext cx="10274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建议 + 人确认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4" name="TextBox 44"/>
            <p:cNvSpPr txBox="1"/>
            <p:nvPr/>
          </p:nvSpPr>
          <p:spPr>
            <a:xfrm>
              <a:off x="9615297" y="4276249"/>
              <a:ext cx="962025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失败分类 +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04-测试报告文档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5" name="Group 50"/>
          <p:cNvGrpSpPr/>
          <p:nvPr/>
        </p:nvGrpSpPr>
        <p:grpSpPr>
          <a:xfrm>
            <a:off x="609600" y="4914900"/>
            <a:ext cx="5334000" cy="1238250"/>
            <a:chOff x="609600" y="4914900"/>
            <a:chExt cx="5334000" cy="1238250"/>
          </a:xfrm>
        </p:grpSpPr>
        <p:sp>
          <p:nvSpPr>
            <p:cNvPr id="116" name="Rectangle 46"/>
            <p:cNvSpPr/>
            <p:nvPr/>
          </p:nvSpPr>
          <p:spPr>
            <a:xfrm>
              <a:off x="609600" y="4914900"/>
              <a:ext cx="5334000" cy="1238250"/>
            </a:xfrm>
            <a:prstGeom prst="roundRect">
              <a:avLst>
                <a:gd name="adj" fmla="val 6154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17" name="TextBox 47"/>
            <p:cNvSpPr txBox="1"/>
            <p:nvPr/>
          </p:nvSpPr>
          <p:spPr>
            <a:xfrm>
              <a:off x="832104" y="509016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贯穿全程的支撑技能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8" name="TextBox 48"/>
            <p:cNvSpPr txBox="1"/>
            <p:nvPr/>
          </p:nvSpPr>
          <p:spPr>
            <a:xfrm>
              <a:off x="833247" y="5419249"/>
              <a:ext cx="30838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测试数据：test-data-preparation，测试数据准备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9" name="TextBox 49"/>
            <p:cNvSpPr txBox="1"/>
            <p:nvPr/>
          </p:nvSpPr>
          <p:spPr>
            <a:xfrm>
              <a:off x="833247" y="5704999"/>
              <a:ext cx="3941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版本管理：version-archive / version-release，归档回写 + 封版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20" name="Group 55"/>
          <p:cNvGrpSpPr/>
          <p:nvPr/>
        </p:nvGrpSpPr>
        <p:grpSpPr>
          <a:xfrm>
            <a:off x="6248400" y="4914900"/>
            <a:ext cx="5334000" cy="1238250"/>
            <a:chOff x="6248400" y="4914900"/>
            <a:chExt cx="5334000" cy="1238250"/>
          </a:xfrm>
        </p:grpSpPr>
        <p:sp>
          <p:nvSpPr>
            <p:cNvPr id="121" name="Rectangle 51"/>
            <p:cNvSpPr/>
            <p:nvPr/>
          </p:nvSpPr>
          <p:spPr>
            <a:xfrm>
              <a:off x="6248400" y="4914900"/>
              <a:ext cx="5334000" cy="1238250"/>
            </a:xfrm>
            <a:prstGeom prst="roundRect">
              <a:avLst>
                <a:gd name="adj" fmla="val 6154"/>
              </a:avLst>
            </a:prstGeom>
            <a:solidFill>
              <a:schemeClr val="lt1"/>
            </a:solidFill>
            <a:ln w="9525">
              <a:solidFill>
                <a:srgbClr val="595959"/>
              </a:solidFill>
            </a:ln>
          </p:spPr>
        </p:sp>
        <p:sp>
          <p:nvSpPr>
            <p:cNvPr id="122" name="TextBox 52"/>
            <p:cNvSpPr txBox="1"/>
            <p:nvPr/>
          </p:nvSpPr>
          <p:spPr>
            <a:xfrm>
              <a:off x="6470904" y="5090160"/>
              <a:ext cx="12424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的定位：副驾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3" name="TextBox 53"/>
            <p:cNvSpPr txBox="1"/>
            <p:nvPr/>
          </p:nvSpPr>
          <p:spPr>
            <a:xfrm>
              <a:off x="6472047" y="5400199"/>
              <a:ext cx="29944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可做：解析需求 / 生成骨架 / 分析失败 / 回填建议</a:t>
              </a:r>
              <a:endParaRPr lang="zh-CN" sz="98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4" name="TextBox 54"/>
            <p:cNvSpPr txBox="1"/>
            <p:nvPr/>
          </p:nvSpPr>
          <p:spPr>
            <a:xfrm>
              <a:off x="6472047" y="5666899"/>
              <a:ext cx="30989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不可做：未经审核改主干 / 无依据加断言 / 跳过失败</a:t>
              </a:r>
              <a:endParaRPr lang="zh-CN" sz="98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25" name="TextBox 56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08 / 24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454342"/>
            <a:ext cx="6498717" cy="438150"/>
            <a:chOff x="609600" y="454342"/>
            <a:chExt cx="6498717" cy="438150"/>
          </a:xfrm>
        </p:grpSpPr>
        <p:sp>
          <p:nvSpPr>
            <p:cNvPr id="2" name="Rectangle 2"/>
            <p:cNvSpPr/>
            <p:nvPr/>
          </p:nvSpPr>
          <p:spPr>
            <a:xfrm>
              <a:off x="609600" y="4572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54342"/>
              <a:ext cx="6246495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协同方案关键：协作载体 + 结构化目录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1066800"/>
            <a:ext cx="4953000" cy="1428750"/>
            <a:chOff x="609600" y="1066800"/>
            <a:chExt cx="4953000" cy="1428750"/>
          </a:xfrm>
        </p:grpSpPr>
        <p:sp>
          <p:nvSpPr>
            <p:cNvPr id="5" name="Rectangle 5"/>
            <p:cNvSpPr/>
            <p:nvPr/>
          </p:nvSpPr>
          <p:spPr>
            <a:xfrm>
              <a:off x="609600" y="1066800"/>
              <a:ext cx="4953000" cy="1428750"/>
            </a:xfrm>
            <a:prstGeom prst="roundRect">
              <a:avLst>
                <a:gd name="adj" fmla="val 533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32104" y="12420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协作载体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32485" y="1516856"/>
              <a:ext cx="33128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TRAE / qOder / 其他支持 AI 的 IDE + Git 仓库</a:t>
              </a:r>
              <a:endParaRPr lang="zh-CN" sz="112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33438" y="1807845"/>
              <a:ext cx="253852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97155" indent="-97155" algn="l">
                <a:buClr>
                  <a:schemeClr val="accent6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需求、开发、测试同一工作区，Git 持续留痕</a:t>
              </a:r>
              <a:endParaRPr lang="zh-CN" sz="9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3438" y="1998345"/>
              <a:ext cx="268128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97155" indent="-97155" algn="l">
                <a:buClr>
                  <a:schemeClr val="accent6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多仓兼容：前端/后端/测试独立仓 + 系统治理仓</a:t>
              </a:r>
              <a:endParaRPr lang="zh-CN" sz="9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3438" y="2188845"/>
              <a:ext cx="204612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97155" indent="-97155" algn="l">
                <a:buClr>
                  <a:schemeClr val="accent6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对 AI：统一工作区形成稳定上下文</a:t>
              </a:r>
              <a:endParaRPr lang="zh-CN" sz="9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2647950"/>
            <a:ext cx="4953000" cy="723900"/>
            <a:chOff x="609600" y="2647950"/>
            <a:chExt cx="4953000" cy="723900"/>
          </a:xfrm>
        </p:grpSpPr>
        <p:sp>
          <p:nvSpPr>
            <p:cNvPr id="12" name="Rectangle 12"/>
            <p:cNvSpPr/>
            <p:nvPr/>
          </p:nvSpPr>
          <p:spPr>
            <a:xfrm>
              <a:off x="609600" y="2647950"/>
              <a:ext cx="4953000" cy="723900"/>
            </a:xfrm>
            <a:prstGeom prst="roundRect">
              <a:avLst>
                <a:gd name="adj" fmla="val 10526"/>
              </a:avLst>
            </a:prstGeom>
            <a:solidFill>
              <a:schemeClr val="lt1"/>
            </a:solidFill>
            <a:ln w="9525">
              <a:solidFill>
                <a:schemeClr val="accent1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609600" y="2647950"/>
              <a:ext cx="76200" cy="72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70204" y="28232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双主线治理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71347" y="3095149"/>
              <a:ext cx="34598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目录路径主线（模块归属） + 功能点编号主线（具体追踪）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09600" y="3467100"/>
            <a:ext cx="4953000" cy="723900"/>
            <a:chOff x="609600" y="3467100"/>
            <a:chExt cx="4953000" cy="723900"/>
          </a:xfrm>
        </p:grpSpPr>
        <p:sp>
          <p:nvSpPr>
            <p:cNvPr id="17" name="Rectangle 17"/>
            <p:cNvSpPr/>
            <p:nvPr/>
          </p:nvSpPr>
          <p:spPr>
            <a:xfrm>
              <a:off x="609600" y="3467100"/>
              <a:ext cx="4953000" cy="723900"/>
            </a:xfrm>
            <a:prstGeom prst="roundRect">
              <a:avLst>
                <a:gd name="adj" fmla="val 10526"/>
              </a:avLst>
            </a:prstGeom>
            <a:solidFill>
              <a:schemeClr val="lt1"/>
            </a:solidFill>
            <a:ln w="9525">
              <a:solidFill>
                <a:schemeClr val="accent1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09600" y="3467100"/>
              <a:ext cx="76200" cy="72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70204" y="36423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统一模板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1347" y="3914299"/>
              <a:ext cx="2498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01/02/03 文档结构对齐，AI 可稳定消费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09600" y="4286250"/>
            <a:ext cx="4953000" cy="723900"/>
            <a:chOff x="609600" y="4286250"/>
            <a:chExt cx="4953000" cy="723900"/>
          </a:xfrm>
        </p:grpSpPr>
        <p:sp>
          <p:nvSpPr>
            <p:cNvPr id="22" name="Rectangle 22"/>
            <p:cNvSpPr/>
            <p:nvPr/>
          </p:nvSpPr>
          <p:spPr>
            <a:xfrm>
              <a:off x="609600" y="4286250"/>
              <a:ext cx="4953000" cy="723900"/>
            </a:xfrm>
            <a:prstGeom prst="roundRect">
              <a:avLst>
                <a:gd name="adj" fmla="val 10526"/>
              </a:avLst>
            </a:prstGeom>
            <a:solidFill>
              <a:schemeClr val="lt1"/>
            </a:solidFill>
            <a:ln w="9525">
              <a:solidFill>
                <a:schemeClr val="accent1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09600" y="4286250"/>
              <a:ext cx="76200" cy="72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70204" y="4461510"/>
              <a:ext cx="10802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REQ 统一主键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71347" y="4733449"/>
              <a:ext cx="22196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贯穿需求/设计/开发/测试/缺陷/回归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09600" y="5105400"/>
            <a:ext cx="4953000" cy="723900"/>
            <a:chOff x="609600" y="5105400"/>
            <a:chExt cx="4953000" cy="723900"/>
          </a:xfrm>
        </p:grpSpPr>
        <p:sp>
          <p:nvSpPr>
            <p:cNvPr id="27" name="Rectangle 27"/>
            <p:cNvSpPr/>
            <p:nvPr/>
          </p:nvSpPr>
          <p:spPr>
            <a:xfrm>
              <a:off x="609600" y="5105400"/>
              <a:ext cx="4953000" cy="723900"/>
            </a:xfrm>
            <a:prstGeom prst="roundRect">
              <a:avLst>
                <a:gd name="adj" fmla="val 10526"/>
              </a:avLst>
            </a:prstGeom>
            <a:solidFill>
              <a:schemeClr val="lt1"/>
            </a:solidFill>
            <a:ln w="9525">
              <a:solidFill>
                <a:schemeClr val="accent1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09600" y="5105400"/>
              <a:ext cx="76200" cy="72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70204" y="52806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结构化目录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71347" y="5552599"/>
              <a:ext cx="219744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Prds/ 目录 + 文件名 + 编号三位一体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5829300" y="1028700"/>
            <a:ext cx="5791200" cy="3943350"/>
            <a:chOff x="5829300" y="1028700"/>
            <a:chExt cx="5791200" cy="3943350"/>
          </a:xfrm>
        </p:grpSpPr>
        <p:sp>
          <p:nvSpPr>
            <p:cNvPr id="32" name="Rectangle 32"/>
            <p:cNvSpPr/>
            <p:nvPr/>
          </p:nvSpPr>
          <p:spPr>
            <a:xfrm>
              <a:off x="5829300" y="1028700"/>
              <a:ext cx="5791200" cy="3943350"/>
            </a:xfrm>
            <a:prstGeom prst="roundRect">
              <a:avLst>
                <a:gd name="adj" fmla="val 966"/>
              </a:avLst>
            </a:prstGeom>
            <a:solidFill>
              <a:schemeClr val="lt1"/>
            </a:solidFill>
            <a:ln w="19050">
              <a:solidFill>
                <a:srgbClr val="DAEAF8"/>
              </a:solidFill>
            </a:ln>
          </p:spPr>
        </p:sp>
        <p:pic>
          <p:nvPicPr>
            <p:cNvPr id="33" name="Image 3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158525" y="1066800"/>
              <a:ext cx="5132750" cy="3829050"/>
            </a:xfrm>
            <a:prstGeom prst="rect">
              <a:avLst/>
            </a:prstGeom>
          </p:spPr>
        </p:pic>
      </p:grpSp>
      <p:grpSp>
        <p:nvGrpSpPr>
          <p:cNvPr id="36" name="Group 36"/>
          <p:cNvGrpSpPr/>
          <p:nvPr/>
        </p:nvGrpSpPr>
        <p:grpSpPr>
          <a:xfrm>
            <a:off x="6321489" y="5201602"/>
            <a:ext cx="4806823" cy="205359"/>
            <a:chOff x="6321489" y="5201602"/>
            <a:chExt cx="4806823" cy="205359"/>
          </a:xfrm>
        </p:grpSpPr>
        <p:sp>
          <p:nvSpPr>
            <p:cNvPr id="35" name="TextBox 35"/>
            <p:cNvSpPr txBox="1"/>
            <p:nvPr/>
          </p:nvSpPr>
          <p:spPr>
            <a:xfrm>
              <a:off x="6321489" y="5201602"/>
              <a:ext cx="48068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项目实景：Prds/ 目录 + 需求到测试交付链路（omics-doc 项目 README）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5867400" y="5448300"/>
            <a:ext cx="5715000" cy="800100"/>
            <a:chOff x="5867400" y="5448300"/>
            <a:chExt cx="5715000" cy="800100"/>
          </a:xfrm>
        </p:grpSpPr>
        <p:sp>
          <p:nvSpPr>
            <p:cNvPr id="37" name="Rectangle 37"/>
            <p:cNvSpPr/>
            <p:nvPr/>
          </p:nvSpPr>
          <p:spPr>
            <a:xfrm>
              <a:off x="5867400" y="5448300"/>
              <a:ext cx="5715000" cy="800100"/>
            </a:xfrm>
            <a:prstGeom prst="roundRect">
              <a:avLst>
                <a:gd name="adj" fmla="val 9524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699633" y="5664518"/>
              <a:ext cx="20505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结构化目录 = 天然可检索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460980" y="5963602"/>
              <a:ext cx="25278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顺带解决 Ones 不支持 RAG 问答的问题</a:t>
              </a:r>
              <a:endParaRPr lang="zh-CN" sz="105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08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609600" y="797242"/>
            <a:ext cx="5581955" cy="557403"/>
            <a:chOff x="609600" y="797242"/>
            <a:chExt cx="5581955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8001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797242"/>
              <a:ext cx="271462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小结：三大支撑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3992118" y="926782"/>
              <a:ext cx="219943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知识库 + AI 提效就绪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1714500"/>
            <a:ext cx="3505200" cy="2857500"/>
            <a:chOff x="609600" y="1714500"/>
            <a:chExt cx="3505200" cy="2857500"/>
          </a:xfrm>
        </p:grpSpPr>
        <p:sp>
          <p:nvSpPr>
            <p:cNvPr id="6" name="Rectangle 6"/>
            <p:cNvSpPr/>
            <p:nvPr/>
          </p:nvSpPr>
          <p:spPr>
            <a:xfrm>
              <a:off x="609600" y="1714500"/>
              <a:ext cx="3505200" cy="2857500"/>
            </a:xfrm>
            <a:prstGeom prst="roundRect">
              <a:avLst>
                <a:gd name="adj" fmla="val 266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714500"/>
              <a:ext cx="3505200" cy="11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9818" y="2107882"/>
              <a:ext cx="16060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需求文档（01）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28294" y="2551748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覆盖度</a:t>
              </a:r>
              <a:endParaRPr lang="zh-CN" sz="19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104" y="3070860"/>
              <a:ext cx="175717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测试点从 REQ 全量派生，</a:t>
              </a:r>
              <a:b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功能点不漏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343400" y="1714500"/>
            <a:ext cx="3505200" cy="2857500"/>
            <a:chOff x="4343400" y="1714500"/>
            <a:chExt cx="3505200" cy="2857500"/>
          </a:xfrm>
        </p:grpSpPr>
        <p:sp>
          <p:nvSpPr>
            <p:cNvPr id="12" name="Rectangle 12"/>
            <p:cNvSpPr/>
            <p:nvPr/>
          </p:nvSpPr>
          <p:spPr>
            <a:xfrm>
              <a:off x="4343400" y="1714500"/>
              <a:ext cx="3505200" cy="2857500"/>
            </a:xfrm>
            <a:prstGeom prst="roundRect">
              <a:avLst>
                <a:gd name="adj" fmla="val 266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4343400" y="1714500"/>
              <a:ext cx="3505200" cy="11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563618" y="2107882"/>
              <a:ext cx="16060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详细设计（02）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62094" y="2551748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准确度</a:t>
              </a:r>
              <a:endParaRPr lang="zh-CN" sz="19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65904" y="3070860"/>
              <a:ext cx="153619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断言的预期值、文案、</a:t>
              </a:r>
              <a:b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定位有结构化依据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077200" y="1714500"/>
            <a:ext cx="3505200" cy="2857500"/>
            <a:chOff x="8077200" y="1714500"/>
            <a:chExt cx="3505200" cy="2857500"/>
          </a:xfrm>
        </p:grpSpPr>
        <p:sp>
          <p:nvSpPr>
            <p:cNvPr id="18" name="Rectangle 18"/>
            <p:cNvSpPr/>
            <p:nvPr/>
          </p:nvSpPr>
          <p:spPr>
            <a:xfrm>
              <a:off x="8077200" y="1714500"/>
              <a:ext cx="3505200" cy="2857500"/>
            </a:xfrm>
            <a:prstGeom prst="roundRect">
              <a:avLst>
                <a:gd name="adj" fmla="val 266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8077200" y="1714500"/>
              <a:ext cx="3505200" cy="11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297418" y="2107882"/>
              <a:ext cx="85462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IDE + AI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95894" y="2551748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提效</a:t>
              </a:r>
              <a:endParaRPr lang="zh-CN" sz="19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99704" y="3070860"/>
              <a:ext cx="153619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文档、脚本、失败分析</a:t>
              </a:r>
              <a:b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全链路 AI 辅助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9600" y="5143500"/>
            <a:ext cx="10972800" cy="762000"/>
            <a:chOff x="609600" y="5143500"/>
            <a:chExt cx="10972800" cy="762000"/>
          </a:xfrm>
        </p:grpSpPr>
        <p:sp>
          <p:nvSpPr>
            <p:cNvPr id="24" name="Rectangle 24"/>
            <p:cNvSpPr/>
            <p:nvPr/>
          </p:nvSpPr>
          <p:spPr>
            <a:xfrm>
              <a:off x="609600" y="5143500"/>
              <a:ext cx="10972800" cy="762000"/>
            </a:xfrm>
            <a:prstGeom prst="roundRect">
              <a:avLst>
                <a:gd name="adj" fmla="val 1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866388" y="5289232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三大支撑就绪，还缺一个稳定高效的执行引擎</a:t>
              </a:r>
              <a:endPara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84639" y="5623560"/>
              <a:ext cx="28227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—— 这就是接下来要讲的 Playwright ——</a:t>
              </a:r>
              <a:endParaRPr lang="zh-CN" sz="120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10 / 24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6632083" cy="557403"/>
            <a:chOff x="609600" y="568642"/>
            <a:chExt cx="6632083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637986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Playwright：现代浏览器自动化框架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9600" y="1524000"/>
            <a:ext cx="3505200" cy="3238500"/>
            <a:chOff x="609600" y="1524000"/>
            <a:chExt cx="3505200" cy="3238500"/>
          </a:xfrm>
        </p:grpSpPr>
        <p:sp>
          <p:nvSpPr>
            <p:cNvPr id="5" name="Rectangle 5"/>
            <p:cNvSpPr/>
            <p:nvPr/>
          </p:nvSpPr>
          <p:spPr>
            <a:xfrm>
              <a:off x="609600" y="1524000"/>
              <a:ext cx="3505200" cy="3238500"/>
            </a:xfrm>
            <a:prstGeom prst="roundRect">
              <a:avLst>
                <a:gd name="adj" fmla="val 235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876300" y="1866900"/>
              <a:ext cx="685800" cy="6858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23950" y="2114550"/>
              <a:ext cx="190500" cy="190500"/>
              <a:chOff x="1123950" y="2114550"/>
              <a:chExt cx="190500" cy="1905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123950" y="2162175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123950" y="2114550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23812"/>
                    </a:moveTo>
                    <a:cubicBezTo>
                      <a:pt x="0" y="10661"/>
                      <a:pt x="10661" y="0"/>
                      <a:pt x="23812" y="0"/>
                    </a:cubicBezTo>
                    <a:lnTo>
                      <a:pt x="166688" y="0"/>
                    </a:lnTo>
                    <a:cubicBezTo>
                      <a:pt x="179839" y="0"/>
                      <a:pt x="190500" y="10661"/>
                      <a:pt x="190500" y="23812"/>
                    </a:cubicBezTo>
                    <a:lnTo>
                      <a:pt x="190500" y="166688"/>
                    </a:lnTo>
                    <a:cubicBezTo>
                      <a:pt x="190500" y="179839"/>
                      <a:pt x="179839" y="190500"/>
                      <a:pt x="166688" y="190500"/>
                    </a:cubicBezTo>
                    <a:lnTo>
                      <a:pt x="23812" y="190500"/>
                    </a:lnTo>
                    <a:cubicBezTo>
                      <a:pt x="10661" y="190500"/>
                      <a:pt x="0" y="179839"/>
                      <a:pt x="0" y="166688"/>
                    </a:cubicBezTo>
                    <a:lnTo>
                      <a:pt x="0" y="23812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171575" y="211455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783080" y="2143125"/>
              <a:ext cx="18745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微软维护 · 多浏览器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2104" y="2918460"/>
              <a:ext cx="190957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支持 Chromium / Firefox /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WebKit，多浏览器一致性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较好，社区生态活跃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343400" y="1524000"/>
            <a:ext cx="3505200" cy="3238500"/>
            <a:chOff x="4343400" y="1524000"/>
            <a:chExt cx="3505200" cy="3238500"/>
          </a:xfrm>
        </p:grpSpPr>
        <p:sp>
          <p:nvSpPr>
            <p:cNvPr id="14" name="Rectangle 14"/>
            <p:cNvSpPr/>
            <p:nvPr/>
          </p:nvSpPr>
          <p:spPr>
            <a:xfrm>
              <a:off x="4343400" y="1524000"/>
              <a:ext cx="3505200" cy="3238500"/>
            </a:xfrm>
            <a:prstGeom prst="roundRect">
              <a:avLst>
                <a:gd name="adj" fmla="val 235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4610100" y="1866900"/>
              <a:ext cx="685800" cy="6858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4869656" y="2102644"/>
              <a:ext cx="166688" cy="214312"/>
            </a:xfrm>
            <a:custGeom>
              <a:avLst/>
              <a:gdLst/>
              <a:ahLst/>
              <a:cxnLst/>
              <a:rect l="l" t="t" r="r" b="b"/>
              <a:pathLst>
                <a:path w="166688" h="214312">
                  <a:moveTo>
                    <a:pt x="95250" y="0"/>
                  </a:moveTo>
                  <a:lnTo>
                    <a:pt x="95250" y="83344"/>
                  </a:lnTo>
                  <a:lnTo>
                    <a:pt x="166688" y="83344"/>
                  </a:lnTo>
                  <a:lnTo>
                    <a:pt x="71438" y="214312"/>
                  </a:lnTo>
                  <a:lnTo>
                    <a:pt x="71438" y="130969"/>
                  </a:lnTo>
                  <a:lnTo>
                    <a:pt x="0" y="130969"/>
                  </a:lnTo>
                  <a:lnTo>
                    <a:pt x="95250" y="0"/>
                  </a:lnTo>
                </a:path>
              </a:pathLst>
            </a:custGeom>
            <a:noFill/>
            <a:ln w="21431" cap="rnd">
              <a:solidFill>
                <a:schemeClr val="accent1"/>
              </a:solidFill>
              <a:round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516880" y="21431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原生能力强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65904" y="2918460"/>
              <a:ext cx="180289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自动等待、trace、截图、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录像、网络拦截、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storageState 开箱即用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077200" y="1524000"/>
            <a:ext cx="3505200" cy="3238500"/>
            <a:chOff x="8077200" y="1524000"/>
            <a:chExt cx="3505200" cy="3238500"/>
          </a:xfrm>
        </p:grpSpPr>
        <p:sp>
          <p:nvSpPr>
            <p:cNvPr id="20" name="Rectangle 20"/>
            <p:cNvSpPr/>
            <p:nvPr/>
          </p:nvSpPr>
          <p:spPr>
            <a:xfrm>
              <a:off x="8077200" y="1524000"/>
              <a:ext cx="3505200" cy="3238500"/>
            </a:xfrm>
            <a:prstGeom prst="roundRect">
              <a:avLst>
                <a:gd name="adj" fmla="val 235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8343900" y="1866900"/>
              <a:ext cx="685800" cy="6858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591550" y="2114550"/>
              <a:ext cx="190500" cy="190500"/>
              <a:chOff x="8591550" y="2114550"/>
              <a:chExt cx="190500" cy="1905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8591550" y="2114550"/>
                <a:ext cx="1905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0">
                    <a:moveTo>
                      <a:pt x="95250" y="0"/>
                    </a:moveTo>
                    <a:lnTo>
                      <a:pt x="0" y="47625"/>
                    </a:lnTo>
                    <a:lnTo>
                      <a:pt x="95250" y="95250"/>
                    </a:lnTo>
                    <a:lnTo>
                      <a:pt x="190500" y="47625"/>
                    </a:lnTo>
                    <a:lnTo>
                      <a:pt x="95250" y="0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591550" y="2209800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95250" y="47625"/>
                    </a:lnTo>
                    <a:lnTo>
                      <a:pt x="190500" y="0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591550" y="2257425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95250" y="47625"/>
                    </a:lnTo>
                    <a:lnTo>
                      <a:pt x="190500" y="0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9250680" y="2143125"/>
              <a:ext cx="13610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UI 与 API 同栈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99704" y="2918460"/>
              <a:ext cx="193243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统一目录、环境、fixture、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报告与 skill 治理，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适合企业后台复杂场景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09600" y="5238750"/>
            <a:ext cx="10972800" cy="571500"/>
            <a:chOff x="609600" y="5238750"/>
            <a:chExt cx="10972800" cy="571500"/>
          </a:xfrm>
        </p:grpSpPr>
        <p:sp>
          <p:nvSpPr>
            <p:cNvPr id="29" name="Rectangle 29"/>
            <p:cNvSpPr/>
            <p:nvPr/>
          </p:nvSpPr>
          <p:spPr>
            <a:xfrm>
              <a:off x="609600" y="5238750"/>
              <a:ext cx="10972800" cy="571500"/>
            </a:xfrm>
            <a:prstGeom prst="roundRect">
              <a:avLst>
                <a:gd name="adj" fmla="val 1333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069080" y="54387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接下来是重点：它有两种截然不同的使用方式</a:t>
              </a:r>
              <a:endParaRPr lang="zh-CN" sz="15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10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9533308" cy="557403"/>
            <a:chOff x="609600" y="568642"/>
            <a:chExt cx="9533308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928108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两种使用方式：playwright-cli vs playwright test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9600" y="1409700"/>
            <a:ext cx="5334000" cy="3810000"/>
            <a:chOff x="609600" y="1409700"/>
            <a:chExt cx="5334000" cy="3810000"/>
          </a:xfrm>
        </p:grpSpPr>
        <p:sp>
          <p:nvSpPr>
            <p:cNvPr id="5" name="Rectangle 5"/>
            <p:cNvSpPr/>
            <p:nvPr/>
          </p:nvSpPr>
          <p:spPr>
            <a:xfrm>
              <a:off x="609600" y="1409700"/>
              <a:ext cx="5334000" cy="3810000"/>
            </a:xfrm>
            <a:prstGeom prst="roundRect">
              <a:avLst>
                <a:gd name="adj" fmla="val 2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ectangle 6"/>
            <p:cNvSpPr/>
            <p:nvPr/>
          </p:nvSpPr>
          <p:spPr>
            <a:xfrm>
              <a:off x="609600" y="1409700"/>
              <a:ext cx="5334000" cy="609600"/>
            </a:xfrm>
            <a:prstGeom prst="roundRect">
              <a:avLst>
                <a:gd name="adj" fmla="val 125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06018" y="1612582"/>
              <a:ext cx="27366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playwright-cli（交互式）</a:t>
              </a:r>
              <a:endPara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09066" y="2248852"/>
              <a:ext cx="24772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npx playwright 命令行执行，不写脚本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08304" y="2613660"/>
              <a:ext cx="262585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你说「帮我测列表查询」，AI 实时决定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打开哪个页面、点什么、填什么，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边读 DOM 边判断结果对错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08304" y="3680460"/>
              <a:ext cx="222199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每一步由 AI 现场决策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判定依据是 DOM 文案精确比对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截图仅留证，不参与判定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14400" y="4724400"/>
              <a:ext cx="1714500" cy="381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342263" y="48587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适合快速摸底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248400" y="1409700"/>
            <a:ext cx="5334000" cy="3810000"/>
            <a:chOff x="6248400" y="1409700"/>
            <a:chExt cx="5334000" cy="3810000"/>
          </a:xfrm>
        </p:grpSpPr>
        <p:sp>
          <p:nvSpPr>
            <p:cNvPr id="14" name="Rectangle 14"/>
            <p:cNvSpPr/>
            <p:nvPr/>
          </p:nvSpPr>
          <p:spPr>
            <a:xfrm>
              <a:off x="6248400" y="1409700"/>
              <a:ext cx="5334000" cy="3810000"/>
            </a:xfrm>
            <a:prstGeom prst="roundRect">
              <a:avLst>
                <a:gd name="adj" fmla="val 2000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6248400" y="1409700"/>
              <a:ext cx="5334000" cy="609600"/>
            </a:xfrm>
            <a:prstGeom prst="roundRect">
              <a:avLst>
                <a:gd name="adj" fmla="val 125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544818" y="1612582"/>
              <a:ext cx="29232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playwright test（脚本化）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47866" y="2248852"/>
              <a:ext cx="31219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用 @playwright/test 编写 ATS-*.spec.ts 脚本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547104" y="2613660"/>
              <a:ext cx="188671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断言（expect）预先写死，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机器确定性执行，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每次运行结果一致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547104" y="3680460"/>
              <a:ext cx="203911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可复现、可进 CI 作回归门禁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断言一经审核长期有效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后续回归零 Token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553200" y="4724400"/>
              <a:ext cx="1714500" cy="381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981063" y="48587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适合长期回归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09600" y="5505450"/>
            <a:ext cx="10972800" cy="571500"/>
            <a:chOff x="609600" y="5505450"/>
            <a:chExt cx="10972800" cy="571500"/>
          </a:xfrm>
        </p:grpSpPr>
        <p:sp>
          <p:nvSpPr>
            <p:cNvPr id="23" name="Rectangle 23"/>
            <p:cNvSpPr/>
            <p:nvPr/>
          </p:nvSpPr>
          <p:spPr>
            <a:xfrm>
              <a:off x="609600" y="5505450"/>
              <a:ext cx="10972800" cy="571500"/>
            </a:xfrm>
            <a:prstGeom prst="roundRect">
              <a:avLst>
                <a:gd name="adj" fmla="val 1333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135744" y="5705475"/>
              <a:ext cx="59205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底层引擎一致，差别在「谁做判断」—— AI 是驾驶员，不是眼睛</a:t>
              </a:r>
              <a:endParaRPr lang="zh-CN" sz="15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11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492442"/>
            <a:ext cx="6803517" cy="557403"/>
            <a:chOff x="609600" y="492442"/>
            <a:chExt cx="6803517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953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92442"/>
              <a:ext cx="655129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真实数据对比：同一批用例双路线实测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09600" y="1219200"/>
            <a:ext cx="10972800" cy="4152900"/>
            <a:chOff x="609600" y="1219200"/>
            <a:chExt cx="10972800" cy="4152900"/>
          </a:xfrm>
        </p:grpSpPr>
        <p:sp>
          <p:nvSpPr>
            <p:cNvPr id="5" name="Rectangle 5"/>
            <p:cNvSpPr/>
            <p:nvPr/>
          </p:nvSpPr>
          <p:spPr>
            <a:xfrm>
              <a:off x="609600" y="1219200"/>
              <a:ext cx="22860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4004" y="13944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维度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Rectangle 7"/>
            <p:cNvSpPr/>
            <p:nvPr/>
          </p:nvSpPr>
          <p:spPr>
            <a:xfrm>
              <a:off x="2895600" y="1219200"/>
              <a:ext cx="43434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3080004" y="1394460"/>
              <a:ext cx="199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playwright-cli（探索式）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Rectangle 9"/>
            <p:cNvSpPr/>
            <p:nvPr/>
          </p:nvSpPr>
          <p:spPr>
            <a:xfrm>
              <a:off x="7239000" y="1219200"/>
              <a:ext cx="43434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423404" y="1394460"/>
              <a:ext cx="22875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playwright test（脚本回归）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714500"/>
              <a:ext cx="10972800" cy="60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94004" y="194691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模式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80004" y="1946910"/>
              <a:ext cx="17446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实时驱动，不写脚本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23404" y="19469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预写断言，机器执行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09600" y="2324100"/>
              <a:ext cx="10972800" cy="6096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94004" y="25565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首次执行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80004" y="2556510"/>
              <a:ext cx="13610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~70 分钟（39 例）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23404" y="2556510"/>
              <a:ext cx="31138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脚本 ~120 分钟 + 执行 4 分 42 秒（42 例）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09600" y="2933700"/>
              <a:ext cx="10972800" cy="60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94004" y="3166110"/>
              <a:ext cx="8621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Token 消耗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80004" y="3166110"/>
              <a:ext cx="20766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~920K / 每次回归重新消耗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23404" y="3166110"/>
              <a:ext cx="23663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一次性投入 · 后续回归零 Token</a:t>
              </a:r>
              <a:endParaRPr lang="zh-CN" sz="120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09600" y="3543300"/>
              <a:ext cx="10972800" cy="6096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94004" y="377571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覆盖度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080004" y="3775710"/>
              <a:ext cx="5125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89.7%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614166" y="37919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（主动跳过写操作）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423404" y="3775710"/>
              <a:ext cx="5125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81.0%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957566" y="3791902"/>
              <a:ext cx="21309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（含写操作，数据污染影响后续）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09600" y="4152900"/>
              <a:ext cx="10972800" cy="60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94004" y="43853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执行通过率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080004" y="4385310"/>
              <a:ext cx="5125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65.7%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423404" y="4385310"/>
              <a:ext cx="5125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85.3%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09600" y="4762500"/>
              <a:ext cx="10972800" cy="6096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94004" y="4994910"/>
              <a:ext cx="4602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CI/CD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080004" y="499491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不适合（结果不可复现）</a:t>
              </a:r>
              <a:endParaRPr lang="zh-CN" sz="120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423404" y="499491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适合（可作回归门禁）</a:t>
              </a:r>
              <a:endPara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3559150" y="5601652"/>
            <a:ext cx="5073701" cy="205359"/>
            <a:chOff x="3559150" y="5601652"/>
            <a:chExt cx="5073701" cy="205359"/>
          </a:xfrm>
        </p:grpSpPr>
        <p:sp>
          <p:nvSpPr>
            <p:cNvPr id="38" name="TextBox 38"/>
            <p:cNvSpPr txBox="1"/>
            <p:nvPr/>
          </p:nvSpPr>
          <p:spPr>
            <a:xfrm>
              <a:off x="3559150" y="5601652"/>
              <a:ext cx="507370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数据来源：V1.6.1 试点 · 同一批用例双路线实测 · 各有强弱，互补而非互替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12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492442"/>
            <a:ext cx="7627442" cy="557403"/>
            <a:chOff x="609600" y="492442"/>
            <a:chExt cx="7627442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953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92442"/>
              <a:ext cx="737522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优势互补：cli 抓口径缺陷，test 跑全链路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09600" y="1219200"/>
            <a:ext cx="5334000" cy="1257300"/>
            <a:chOff x="609600" y="1219200"/>
            <a:chExt cx="5334000" cy="1257300"/>
          </a:xfrm>
        </p:grpSpPr>
        <p:sp>
          <p:nvSpPr>
            <p:cNvPr id="5" name="Rectangle 5"/>
            <p:cNvSpPr/>
            <p:nvPr/>
          </p:nvSpPr>
          <p:spPr>
            <a:xfrm>
              <a:off x="609600" y="1219200"/>
              <a:ext cx="5334000" cy="1257300"/>
            </a:xfrm>
            <a:prstGeom prst="roundRect">
              <a:avLst>
                <a:gd name="adj" fmla="val 6061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07542" y="1397318"/>
              <a:ext cx="17511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playwright-cli 擅长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08304" y="1718310"/>
              <a:ext cx="320497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lnSpc>
                  <a:spcPts val="19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文案类真实缺陷（FORM-003 校验提示不符，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test 因断言宽松漏检）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19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动态适应页面现有数据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248400" y="1219200"/>
            <a:ext cx="5334000" cy="1257300"/>
            <a:chOff x="6248400" y="1219200"/>
            <a:chExt cx="5334000" cy="1257300"/>
          </a:xfrm>
        </p:grpSpPr>
        <p:sp>
          <p:nvSpPr>
            <p:cNvPr id="9" name="Rectangle 9"/>
            <p:cNvSpPr/>
            <p:nvPr/>
          </p:nvSpPr>
          <p:spPr>
            <a:xfrm>
              <a:off x="6248400" y="1219200"/>
              <a:ext cx="5334000" cy="1257300"/>
            </a:xfrm>
            <a:prstGeom prst="roundRect">
              <a:avLst>
                <a:gd name="adj" fmla="val 6061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546342" y="1397318"/>
              <a:ext cx="19037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playwright test 擅长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547104" y="1718310"/>
              <a:ext cx="274015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lnSpc>
                  <a:spcPts val="19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写操作用例全链路覆盖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19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网络层验证（route 拦截缓存复用等）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19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可复现、可进 CI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09600" y="2705100"/>
            <a:ext cx="10972800" cy="2628900"/>
            <a:chOff x="609600" y="2705100"/>
            <a:chExt cx="10972800" cy="2628900"/>
          </a:xfrm>
        </p:grpSpPr>
        <p:sp>
          <p:nvSpPr>
            <p:cNvPr id="13" name="Rectangle 13"/>
            <p:cNvSpPr/>
            <p:nvPr/>
          </p:nvSpPr>
          <p:spPr>
            <a:xfrm>
              <a:off x="609600" y="2705100"/>
              <a:ext cx="47625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94004" y="28803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使用场景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72100" y="2705100"/>
              <a:ext cx="20955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556504" y="288036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用哪个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67600" y="2705100"/>
              <a:ext cx="41148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52004" y="2880360"/>
              <a:ext cx="7254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 skill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09600" y="3200400"/>
              <a:ext cx="10972800" cy="533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94004" y="3394710"/>
              <a:ext cx="28069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首次功能验证 / 发版前摸底 / 缺陷探查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556504" y="3394710"/>
              <a:ext cx="2072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cli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52766" y="3410902"/>
              <a:ext cx="15725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playwright-cli-testing</a:t>
              </a:r>
              <a:endParaRPr lang="zh-CN" sz="105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09600" y="3733800"/>
              <a:ext cx="10972800" cy="5334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94004" y="3928110"/>
              <a:ext cx="25242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页面探索 / 维护 data-testid 快照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56504" y="3928110"/>
              <a:ext cx="2072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cli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52766" y="3944302"/>
              <a:ext cx="15725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playwright-cli-testing</a:t>
              </a:r>
              <a:endParaRPr lang="zh-CN" sz="105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09600" y="4267200"/>
              <a:ext cx="10972800" cy="533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94004" y="4461510"/>
              <a:ext cx="24595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新模块接入 / 生成目录与脚本骨架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556504" y="4461510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test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52766" y="4477702"/>
              <a:ext cx="17563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ui-automation-bootstrap</a:t>
              </a:r>
              <a:endParaRPr lang="zh-CN" sz="105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" y="4800600"/>
              <a:ext cx="10972800" cy="5334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94004" y="4994910"/>
              <a:ext cx="264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长期回归 / 版本迭代门禁 / 失败修复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556504" y="4994910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test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652766" y="5011102"/>
              <a:ext cx="22510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playwright-test-implementation</a:t>
              </a:r>
              <a:endParaRPr lang="zh-CN" sz="105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09600" y="5676900"/>
            <a:ext cx="10972800" cy="533400"/>
            <a:chOff x="609600" y="5676900"/>
            <a:chExt cx="10972800" cy="533400"/>
          </a:xfrm>
        </p:grpSpPr>
        <p:sp>
          <p:nvSpPr>
            <p:cNvPr id="36" name="Rectangle 36"/>
            <p:cNvSpPr/>
            <p:nvPr/>
          </p:nvSpPr>
          <p:spPr>
            <a:xfrm>
              <a:off x="609600" y="567690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824046" y="5857875"/>
              <a:ext cx="25439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cli 先行探路，脚本跟进沉淀</a:t>
              </a:r>
              <a:endParaRPr lang="zh-CN" sz="15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13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4503252" cy="557403"/>
            <a:chOff x="609600" y="568642"/>
            <a:chExt cx="4503252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425103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目录结构 + UI 脚本分层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09600" y="1409700"/>
            <a:ext cx="5905500" cy="4381500"/>
            <a:chOff x="609600" y="1409700"/>
            <a:chExt cx="5905500" cy="4381500"/>
          </a:xfrm>
        </p:grpSpPr>
        <p:sp>
          <p:nvSpPr>
            <p:cNvPr id="5" name="Rectangle 5"/>
            <p:cNvSpPr/>
            <p:nvPr/>
          </p:nvSpPr>
          <p:spPr>
            <a:xfrm>
              <a:off x="609600" y="1409700"/>
              <a:ext cx="5905500" cy="4381500"/>
            </a:xfrm>
            <a:prstGeom prst="roundRect">
              <a:avLst>
                <a:gd name="adj" fmla="val 1739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70204" y="1699260"/>
              <a:ext cx="2663952" cy="33779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Tests/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├─ shared/ # 登录态、鉴权、公共能力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└─ ui-automation/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├─ playwright.config.ts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├─ fixtures/ # 登录态、前后置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├─ helpers/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└─ &lt;一级模块&gt;/&lt;二级模块&gt;/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├─ specs/ # ATS-*.spec.ts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├─ pages/ # 页面对象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├─ fixtures/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├─ data/ # 测试数据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└─ snapshots/</a:t>
              </a:r>
              <a:endParaRPr lang="zh-CN" sz="1200" dirty="0">
                <a:solidFill>
                  <a:srgbClr val="DAEAF8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819900" y="1409700"/>
            <a:ext cx="4762500" cy="952500"/>
            <a:chOff x="6819900" y="1409700"/>
            <a:chExt cx="4762500" cy="952500"/>
          </a:xfrm>
        </p:grpSpPr>
        <p:sp>
          <p:nvSpPr>
            <p:cNvPr id="8" name="Rectangle 8"/>
            <p:cNvSpPr/>
            <p:nvPr/>
          </p:nvSpPr>
          <p:spPr>
            <a:xfrm>
              <a:off x="6819900" y="1409700"/>
              <a:ext cx="4762500" cy="952500"/>
            </a:xfrm>
            <a:prstGeom prst="roundRect">
              <a:avLst>
                <a:gd name="adj" fmla="val 8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117842" y="1606868"/>
              <a:ext cx="6434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specs/</a:t>
              </a:r>
              <a:endParaRPr lang="zh-CN" sz="135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18604" y="1927860"/>
              <a:ext cx="27988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场景脚本层——面向需求点 / 测试点组织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819900" y="2514600"/>
            <a:ext cx="4762500" cy="952500"/>
            <a:chOff x="6819900" y="2514600"/>
            <a:chExt cx="4762500" cy="952500"/>
          </a:xfrm>
        </p:grpSpPr>
        <p:sp>
          <p:nvSpPr>
            <p:cNvPr id="12" name="Rectangle 12"/>
            <p:cNvSpPr/>
            <p:nvPr/>
          </p:nvSpPr>
          <p:spPr>
            <a:xfrm>
              <a:off x="6819900" y="2514600"/>
              <a:ext cx="4762500" cy="952500"/>
            </a:xfrm>
            <a:prstGeom prst="roundRect">
              <a:avLst>
                <a:gd name="adj" fmla="val 8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117842" y="2711768"/>
              <a:ext cx="6434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pages/</a:t>
              </a:r>
              <a:endParaRPr lang="zh-CN" sz="135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18604" y="3032760"/>
              <a:ext cx="36905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页面对象封装——隔离 UI 变化，一处修改全局生效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819900" y="3619500"/>
            <a:ext cx="4762500" cy="952500"/>
            <a:chOff x="6819900" y="3619500"/>
            <a:chExt cx="4762500" cy="952500"/>
          </a:xfrm>
        </p:grpSpPr>
        <p:sp>
          <p:nvSpPr>
            <p:cNvPr id="16" name="Rectangle 16"/>
            <p:cNvSpPr/>
            <p:nvPr/>
          </p:nvSpPr>
          <p:spPr>
            <a:xfrm>
              <a:off x="6819900" y="3619500"/>
              <a:ext cx="4762500" cy="952500"/>
            </a:xfrm>
            <a:prstGeom prst="roundRect">
              <a:avLst>
                <a:gd name="adj" fmla="val 8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17842" y="3816668"/>
              <a:ext cx="9105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fixtures/</a:t>
              </a:r>
              <a:endParaRPr lang="zh-CN" sz="135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18604" y="4137660"/>
              <a:ext cx="32592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前后置与数据装配——登录态、造数、场景准备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819900" y="4724400"/>
            <a:ext cx="4762500" cy="1066800"/>
            <a:chOff x="6819900" y="4724400"/>
            <a:chExt cx="4762500" cy="1066800"/>
          </a:xfrm>
        </p:grpSpPr>
        <p:sp>
          <p:nvSpPr>
            <p:cNvPr id="20" name="Rectangle 20"/>
            <p:cNvSpPr/>
            <p:nvPr/>
          </p:nvSpPr>
          <p:spPr>
            <a:xfrm>
              <a:off x="6819900" y="4724400"/>
              <a:ext cx="4762500" cy="1066800"/>
            </a:xfrm>
            <a:prstGeom prst="roundRect">
              <a:avLst>
                <a:gd name="adj" fmla="val 714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117842" y="4921568"/>
              <a:ext cx="5384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data/</a:t>
              </a:r>
              <a:endParaRPr lang="zh-CN" sz="135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18604" y="5242560"/>
              <a:ext cx="22899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输入参数与断言数据集中管理——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18604" y="5509260"/>
              <a:ext cx="20072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预期值可追溯到 01/02 文档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14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9600" y="492442"/>
            <a:ext cx="8287512" cy="557403"/>
            <a:chOff x="609600" y="492442"/>
            <a:chExt cx="8287512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953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92442"/>
              <a:ext cx="659516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场景一：V1.6.1（0→1，从零开始）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59118" y="621982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7 天闭环 · 双路线并行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09600" y="1143000"/>
            <a:ext cx="10972800" cy="2895600"/>
            <a:chOff x="609600" y="1143000"/>
            <a:chExt cx="10972800" cy="2895600"/>
          </a:xfrm>
        </p:grpSpPr>
        <p:sp>
          <p:nvSpPr>
            <p:cNvPr id="6" name="Rectangle 6"/>
            <p:cNvSpPr/>
            <p:nvPr/>
          </p:nvSpPr>
          <p:spPr>
            <a:xfrm>
              <a:off x="609600" y="1143000"/>
              <a:ext cx="17145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56666" y="12963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Rectangle 8"/>
            <p:cNvSpPr/>
            <p:nvPr/>
          </p:nvSpPr>
          <p:spPr>
            <a:xfrm>
              <a:off x="2324100" y="1143000"/>
              <a:ext cx="55245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471166" y="12963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动作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848600" y="1143000"/>
              <a:ext cx="37338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995666" y="1296352"/>
              <a:ext cx="7760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使用的 skill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09600" y="1562100"/>
              <a:ext cx="10972800" cy="495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56666" y="1753552"/>
              <a:ext cx="5820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7.6-7.7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71166" y="1753552"/>
              <a:ext cx="34681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需求讨论确认 + 整理需求 + 生成 01 文档 + 6 个 REQ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995666" y="1753552"/>
              <a:ext cx="19471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requirement-doc-bootstrap</a:t>
              </a:r>
              <a:endParaRPr lang="zh-CN" sz="105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9600" y="2057400"/>
              <a:ext cx="10972800" cy="4953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56666" y="2248852"/>
              <a:ext cx="6637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7.8–7.10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471166" y="2248852"/>
              <a:ext cx="22440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开发实现 + 更新 prd-to-code 映射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95666" y="22488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（编码）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" y="2552700"/>
              <a:ext cx="10972800" cy="495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56666" y="2744152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7.13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71166" y="2744152"/>
              <a:ext cx="14595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生成 02 详设 + 03 用例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995666" y="2744152"/>
              <a:ext cx="1699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detail-design + testcase</a:t>
              </a:r>
              <a:endParaRPr lang="zh-CN" sz="105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09600" y="3048000"/>
              <a:ext cx="10972800" cy="4953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6666" y="3239452"/>
              <a:ext cx="7453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7.13–7.14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471166" y="3239452"/>
              <a:ext cx="29861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第一种方式：playwright-cli（交互式 + 截图）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95666" y="3239452"/>
              <a:ext cx="15725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playwright-cli-testing</a:t>
              </a:r>
              <a:endParaRPr lang="zh-CN" sz="105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" y="3543300"/>
              <a:ext cx="10972800" cy="495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6666" y="3734752"/>
              <a:ext cx="7453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7.13–7.14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471166" y="3734752"/>
              <a:ext cx="31886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第二种方式：playwright test（脚本化 + JUnit）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995666" y="3734752"/>
              <a:ext cx="22510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playwright-test-implementation</a:t>
              </a:r>
              <a:endParaRPr lang="zh-CN" sz="105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09600" y="4381500"/>
            <a:ext cx="10972800" cy="1524000"/>
            <a:chOff x="609600" y="4381500"/>
            <a:chExt cx="10972800" cy="1524000"/>
          </a:xfrm>
        </p:grpSpPr>
        <p:sp>
          <p:nvSpPr>
            <p:cNvPr id="33" name="Rectangle 33"/>
            <p:cNvSpPr/>
            <p:nvPr/>
          </p:nvSpPr>
          <p:spPr>
            <a:xfrm>
              <a:off x="609600" y="4381500"/>
              <a:ext cx="3505200" cy="1524000"/>
            </a:xfrm>
            <a:prstGeom prst="roundRect">
              <a:avLst>
                <a:gd name="adj" fmla="val 5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2104" y="46139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闭环时长</a:t>
              </a:r>
              <a:endParaRPr lang="zh-CN" sz="120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8294" y="4952048"/>
              <a:ext cx="130413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7 个工作日</a:t>
              </a:r>
              <a:endParaRPr lang="zh-CN" sz="19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2866" y="539210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从需求评审到跑通回归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43400" y="4381500"/>
              <a:ext cx="3505200" cy="1524000"/>
            </a:xfrm>
            <a:prstGeom prst="roundRect">
              <a:avLst>
                <a:gd name="adj" fmla="val 5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565904" y="46139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一次性产出</a:t>
              </a:r>
              <a:endParaRPr lang="zh-CN" sz="120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562094" y="4952048"/>
              <a:ext cx="208838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 spec · 48 用例</a:t>
              </a:r>
              <a:endParaRPr lang="zh-CN" sz="19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66666" y="539210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通过率达首次基线门禁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077200" y="4381500"/>
              <a:ext cx="3505200" cy="1524000"/>
            </a:xfrm>
            <a:prstGeom prst="roundRect">
              <a:avLst>
                <a:gd name="adj" fmla="val 5000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299704" y="46139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关键发现</a:t>
              </a:r>
              <a:endParaRPr lang="zh-CN" sz="120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299704" y="4975860"/>
              <a:ext cx="23392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详设允许「code→design 反推」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0466" y="5277802"/>
              <a:ext cx="19118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skill 硬约束：前端代码 + 后台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00466" y="5506402"/>
              <a:ext cx="11273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spec 才能生成 02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17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9600" y="435292"/>
            <a:ext cx="7444295" cy="557403"/>
            <a:chOff x="609600" y="435292"/>
            <a:chExt cx="7444295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57200"/>
              <a:ext cx="76200" cy="342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35292"/>
              <a:ext cx="687496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场景二：V1.6.3（1→1.x，增量迭代）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857365" y="567055"/>
              <a:ext cx="11965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5 天增量闭环</a:t>
              </a:r>
              <a:endParaRPr lang="zh-CN" sz="15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9600" y="990600"/>
            <a:ext cx="5334000" cy="2800350"/>
            <a:chOff x="609600" y="990600"/>
            <a:chExt cx="5334000" cy="2800350"/>
          </a:xfrm>
        </p:grpSpPr>
        <p:sp>
          <p:nvSpPr>
            <p:cNvPr id="6" name="Rectangle 6"/>
            <p:cNvSpPr/>
            <p:nvPr/>
          </p:nvSpPr>
          <p:spPr>
            <a:xfrm>
              <a:off x="609600" y="990600"/>
              <a:ext cx="11430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56666" y="11249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Rectangle 8"/>
            <p:cNvSpPr/>
            <p:nvPr/>
          </p:nvSpPr>
          <p:spPr>
            <a:xfrm>
              <a:off x="1752600" y="990600"/>
              <a:ext cx="41910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899666" y="1124902"/>
              <a:ext cx="7608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动作 + skill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09600" y="1371600"/>
              <a:ext cx="5334000" cy="5524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6666" y="1582102"/>
              <a:ext cx="7453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8.17–8.19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99666" y="1505902"/>
              <a:ext cx="24451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增量需求整理：变动检测 + REQ 续号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900047" y="1742599"/>
              <a:ext cx="26088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1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requirement-doc-bootstrap（增量模式）</a:t>
              </a:r>
              <a:endParaRPr lang="zh-CN" sz="980" dirty="0">
                <a:solidFill>
                  <a:schemeClr val="accent1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09600" y="1924050"/>
              <a:ext cx="5334000" cy="5524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6666" y="2134552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8.19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899666" y="2058352"/>
              <a:ext cx="23782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详设 + 用例 + 一致性检查 + skill 优化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00047" y="2295049"/>
              <a:ext cx="22658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1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detail-design + testcase + 手工修正</a:t>
              </a:r>
              <a:endParaRPr lang="zh-CN" sz="980" dirty="0">
                <a:solidFill>
                  <a:schemeClr val="accent1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" y="2476500"/>
              <a:ext cx="5334000" cy="4381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56666" y="2639378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8.20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899666" y="2639378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开发联调（编码）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" y="2914650"/>
              <a:ext cx="5334000" cy="4381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56666" y="3077528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8.24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899666" y="3077528"/>
              <a:ext cx="17351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完成 6 个 spec · 54 条用例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09600" y="3352800"/>
              <a:ext cx="5334000" cy="4381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6666" y="3515678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8.25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899666" y="3515678"/>
              <a:ext cx="25740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全量回归 3 轮（run-report + AI 报告）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172200" y="990600"/>
            <a:ext cx="5410200" cy="2800350"/>
            <a:chOff x="6172200" y="990600"/>
            <a:chExt cx="5410200" cy="2800350"/>
          </a:xfrm>
        </p:grpSpPr>
        <p:sp>
          <p:nvSpPr>
            <p:cNvPr id="28" name="Rectangle 28"/>
            <p:cNvSpPr/>
            <p:nvPr/>
          </p:nvSpPr>
          <p:spPr>
            <a:xfrm>
              <a:off x="6172200" y="990600"/>
              <a:ext cx="15240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19266" y="112490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差异点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96200" y="990600"/>
              <a:ext cx="180975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843266" y="1124902"/>
              <a:ext cx="10856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0→1（V1.6.1）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505950" y="990600"/>
              <a:ext cx="207645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3016" y="1124902"/>
              <a:ext cx="12247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1→1.x（V1.6.3）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72200" y="1371600"/>
              <a:ext cx="5410200" cy="4000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19647" y="151399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详设输入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843647" y="1513999"/>
              <a:ext cx="12038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 + 02b + 前端代码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653397" y="1513999"/>
              <a:ext cx="143472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 + 基线 02 + 后台文档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172200" y="1771650"/>
              <a:ext cx="5410200" cy="4000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19647" y="19140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详设模式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843647" y="1914049"/>
              <a:ext cx="10785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code→design 反推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653397" y="1914049"/>
              <a:ext cx="15003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design→design 增量推导</a:t>
              </a:r>
              <a:endParaRPr lang="zh-CN" sz="98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172200" y="2171700"/>
              <a:ext cx="5410200" cy="4000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19647" y="231409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用例生成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843647" y="2314099"/>
              <a:ext cx="9996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全量（FT + IT）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53397" y="2314099"/>
              <a:ext cx="1132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增量（仅 FT/ET）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172200" y="2571750"/>
              <a:ext cx="5410200" cy="4000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19647" y="27141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失效概念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843647" y="2714149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无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653397" y="2714149"/>
              <a:ext cx="15372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必须识别（配额行→套餐）</a:t>
              </a:r>
              <a:endParaRPr lang="zh-CN" sz="98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172200" y="2971800"/>
              <a:ext cx="5410200" cy="4000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19647" y="311419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一致性检查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843647" y="3114199"/>
              <a:ext cx="82785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 vs 02 双向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653397" y="3114199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 vs 02 vs 03 三向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172200" y="3371850"/>
              <a:ext cx="5410200" cy="4191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319647" y="35142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强制环节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843647" y="3514249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无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653397" y="3514249"/>
              <a:ext cx="16919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prd-git-commit + 规则拦截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609600" y="4343400"/>
            <a:ext cx="3619500" cy="1905000"/>
            <a:chOff x="609600" y="4343400"/>
            <a:chExt cx="3619500" cy="1905000"/>
          </a:xfrm>
        </p:grpSpPr>
        <p:sp>
          <p:nvSpPr>
            <p:cNvPr id="59" name="Rectangle 59"/>
            <p:cNvSpPr/>
            <p:nvPr/>
          </p:nvSpPr>
          <p:spPr>
            <a:xfrm>
              <a:off x="609600" y="4343400"/>
              <a:ext cx="3619500" cy="1905000"/>
            </a:xfrm>
            <a:prstGeom prst="roundRect">
              <a:avLst>
                <a:gd name="adj" fmla="val 4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810668" y="4645342"/>
              <a:ext cx="121736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80.0%</a:t>
              </a:r>
              <a:endParaRPr lang="zh-CN" sz="28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266292" y="5128260"/>
              <a:ext cx="23061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通过率（40/50），达 80% 门禁</a:t>
              </a:r>
              <a:endParaRPr lang="zh-CN" sz="120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933468" y="5547360"/>
              <a:ext cx="9717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 项有效 bug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463431" y="5830252"/>
              <a:ext cx="19118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文案 · 查询 · 缓存 · 编辑保存</a:t>
              </a:r>
              <a:endParaRPr lang="zh-CN" sz="105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4419600" y="4343400"/>
            <a:ext cx="3467100" cy="876300"/>
            <a:chOff x="4419600" y="4343400"/>
            <a:chExt cx="3467100" cy="876300"/>
          </a:xfrm>
        </p:grpSpPr>
        <p:sp>
          <p:nvSpPr>
            <p:cNvPr id="65" name="Rectangle 65"/>
            <p:cNvSpPr/>
            <p:nvPr/>
          </p:nvSpPr>
          <p:spPr>
            <a:xfrm>
              <a:off x="4419600" y="4343400"/>
              <a:ext cx="3467100" cy="876300"/>
            </a:xfrm>
            <a:prstGeom prst="roundRect">
              <a:avLst>
                <a:gd name="adj" fmla="val 8696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4642866" y="453485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误报（断言策略）</a:t>
              </a:r>
              <a:endParaRPr lang="zh-CN" sz="105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4638294" y="4780598"/>
              <a:ext cx="254499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3 项</a:t>
              </a:r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　颜色 · toast 范围 · 文案逐列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115300" y="4343400"/>
            <a:ext cx="3467100" cy="876300"/>
            <a:chOff x="8115300" y="4343400"/>
            <a:chExt cx="3467100" cy="876300"/>
          </a:xfrm>
        </p:grpSpPr>
        <p:sp>
          <p:nvSpPr>
            <p:cNvPr id="69" name="Rectangle 69"/>
            <p:cNvSpPr/>
            <p:nvPr/>
          </p:nvSpPr>
          <p:spPr>
            <a:xfrm>
              <a:off x="8115300" y="4343400"/>
              <a:ext cx="3467100" cy="876300"/>
            </a:xfrm>
            <a:prstGeom prst="roundRect">
              <a:avLst>
                <a:gd name="adj" fmla="val 8696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8338566" y="45348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漏测</a:t>
              </a:r>
              <a:endParaRPr lang="zh-CN" sz="105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333994" y="4780598"/>
              <a:ext cx="279942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 项</a:t>
              </a:r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　写操作未断言刷新 · 需求文档错误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4419600" y="5372100"/>
            <a:ext cx="3467100" cy="876300"/>
            <a:chOff x="4419600" y="5372100"/>
            <a:chExt cx="3467100" cy="876300"/>
          </a:xfrm>
        </p:grpSpPr>
        <p:sp>
          <p:nvSpPr>
            <p:cNvPr id="73" name="Rectangle 73"/>
            <p:cNvSpPr/>
            <p:nvPr/>
          </p:nvSpPr>
          <p:spPr>
            <a:xfrm>
              <a:off x="4419600" y="5372100"/>
              <a:ext cx="3467100" cy="876300"/>
            </a:xfrm>
            <a:prstGeom prst="roundRect">
              <a:avLst>
                <a:gd name="adj" fmla="val 8696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4642866" y="55635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跳过</a:t>
              </a:r>
              <a:endParaRPr lang="zh-CN" sz="105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4638294" y="5809298"/>
              <a:ext cx="211387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 项</a:t>
              </a:r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　存储合同 · 分页 · 启停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8115300" y="5372100"/>
            <a:ext cx="3467100" cy="876300"/>
            <a:chOff x="8115300" y="5372100"/>
            <a:chExt cx="3467100" cy="876300"/>
          </a:xfrm>
        </p:grpSpPr>
        <p:sp>
          <p:nvSpPr>
            <p:cNvPr id="77" name="Rectangle 77"/>
            <p:cNvSpPr/>
            <p:nvPr/>
          </p:nvSpPr>
          <p:spPr>
            <a:xfrm>
              <a:off x="8115300" y="5372100"/>
              <a:ext cx="3467100" cy="876300"/>
            </a:xfrm>
            <a:prstGeom prst="roundRect">
              <a:avLst>
                <a:gd name="adj" fmla="val 8696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8338566" y="5563552"/>
              <a:ext cx="10863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错误（SCRIPT）</a:t>
              </a:r>
              <a:endParaRPr lang="zh-CN" sz="105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333994" y="5809298"/>
              <a:ext cx="20926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 项</a:t>
              </a:r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　定位回归 · 子表行不足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81" name="TextBox 81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18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492442"/>
            <a:ext cx="6803517" cy="557403"/>
            <a:chOff x="609600" y="492442"/>
            <a:chExt cx="6803517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953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92442"/>
              <a:ext cx="655129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投入产出与维护成本（两个场景总结）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9600" y="1143000"/>
            <a:ext cx="10972800" cy="2667000"/>
            <a:chOff x="609600" y="1143000"/>
            <a:chExt cx="10972800" cy="2667000"/>
          </a:xfrm>
        </p:grpSpPr>
        <p:sp>
          <p:nvSpPr>
            <p:cNvPr id="5" name="Rectangle 5"/>
            <p:cNvSpPr/>
            <p:nvPr/>
          </p:nvSpPr>
          <p:spPr>
            <a:xfrm>
              <a:off x="609600" y="1143000"/>
              <a:ext cx="2286000" cy="533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4004" y="133731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Rectangle 7"/>
            <p:cNvSpPr/>
            <p:nvPr/>
          </p:nvSpPr>
          <p:spPr>
            <a:xfrm>
              <a:off x="2895600" y="1143000"/>
              <a:ext cx="4343400" cy="533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3080004" y="1337310"/>
              <a:ext cx="12407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V1.6.1（0→1）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Rectangle 9"/>
            <p:cNvSpPr/>
            <p:nvPr/>
          </p:nvSpPr>
          <p:spPr>
            <a:xfrm>
              <a:off x="7239000" y="1143000"/>
              <a:ext cx="4343400" cy="533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423404" y="1337310"/>
              <a:ext cx="13996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V1.6.3（1→1.x）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76400"/>
              <a:ext cx="10972800" cy="533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94004" y="18707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版本周期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80004" y="1870710"/>
              <a:ext cx="8845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~7 个工作日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23404" y="1870710"/>
              <a:ext cx="8845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~5 个工作日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09600" y="2209800"/>
              <a:ext cx="10972800" cy="5334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94004" y="24041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实际编码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80004" y="2404110"/>
              <a:ext cx="10480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天（~43%）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23404" y="2404110"/>
              <a:ext cx="10480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 天（~20%）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09600" y="2743200"/>
              <a:ext cx="10972800" cy="533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94004" y="29375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测试脚本编写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80004" y="2937510"/>
              <a:ext cx="11106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~1 天（~15%）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23404" y="2937510"/>
              <a:ext cx="11106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~1 天（~20%）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09600" y="3276600"/>
              <a:ext cx="10972800" cy="5334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94004" y="34709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其余时间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080766" y="3487102"/>
              <a:ext cx="24489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需求/详设/用例生成 + 首轮双路线验证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24166" y="3487102"/>
              <a:ext cx="24348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增量需求整理 + 一致性检查 + 3 轮回归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09600" y="4038600"/>
            <a:ext cx="10972800" cy="571500"/>
            <a:chOff x="609600" y="4038600"/>
            <a:chExt cx="10972800" cy="571500"/>
          </a:xfrm>
        </p:grpSpPr>
        <p:sp>
          <p:nvSpPr>
            <p:cNvPr id="28" name="Rectangle 28"/>
            <p:cNvSpPr/>
            <p:nvPr/>
          </p:nvSpPr>
          <p:spPr>
            <a:xfrm>
              <a:off x="609600" y="4038600"/>
              <a:ext cx="10972800" cy="571500"/>
            </a:xfrm>
            <a:prstGeom prst="roundRect">
              <a:avLst>
                <a:gd name="adj" fmla="val 1333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349002" y="4254818"/>
              <a:ext cx="54939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编码之外的时间占周期一半以上——这些正是知识库建设与消费的时间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09600" y="4838700"/>
            <a:ext cx="10972800" cy="1219200"/>
            <a:chOff x="609600" y="4838700"/>
            <a:chExt cx="10972800" cy="1219200"/>
          </a:xfrm>
        </p:grpSpPr>
        <p:sp>
          <p:nvSpPr>
            <p:cNvPr id="31" name="Rectangle 31"/>
            <p:cNvSpPr/>
            <p:nvPr/>
          </p:nvSpPr>
          <p:spPr>
            <a:xfrm>
              <a:off x="609600" y="4838700"/>
              <a:ext cx="10972800" cy="1219200"/>
            </a:xfrm>
            <a:prstGeom prst="roundRect">
              <a:avLst>
                <a:gd name="adj" fmla="val 6250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018" y="5041582"/>
              <a:ext cx="33947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核心权衡：知识库质量 ↔ 交付速度</a:t>
              </a:r>
              <a:endParaRPr lang="zh-CN" sz="16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8304" y="5452110"/>
              <a:ext cx="5989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知识库颗粒度越细，用例与脚本越准确；但整理与审核时间越多，直接挤占开发时间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8304" y="5737860"/>
              <a:ext cx="30470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 按模块重要性（P0/P1）决定投入程度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19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492442"/>
            <a:ext cx="6419850" cy="557403"/>
            <a:chOff x="609600" y="492442"/>
            <a:chExt cx="6419850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953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92442"/>
              <a:ext cx="616762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维护成本与下一个挑战：多模块联动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02742" y="1302068"/>
            <a:ext cx="740664" cy="264033"/>
            <a:chOff x="602742" y="1302068"/>
            <a:chExt cx="740664" cy="264033"/>
          </a:xfrm>
        </p:grpSpPr>
        <p:sp>
          <p:nvSpPr>
            <p:cNvPr id="5" name="TextBox 5"/>
            <p:cNvSpPr txBox="1"/>
            <p:nvPr/>
          </p:nvSpPr>
          <p:spPr>
            <a:xfrm>
              <a:off x="602742" y="13020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维护成本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09600" y="1562100"/>
            <a:ext cx="5334000" cy="952500"/>
            <a:chOff x="609600" y="1562100"/>
            <a:chExt cx="5334000" cy="952500"/>
          </a:xfrm>
        </p:grpSpPr>
        <p:sp>
          <p:nvSpPr>
            <p:cNvPr id="7" name="Rectangle 7"/>
            <p:cNvSpPr/>
            <p:nvPr/>
          </p:nvSpPr>
          <p:spPr>
            <a:xfrm>
              <a:off x="609600" y="1562100"/>
              <a:ext cx="5334000" cy="952500"/>
            </a:xfrm>
            <a:prstGeom prst="roundRect">
              <a:avLst>
                <a:gd name="adj" fmla="val 8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08304" y="17373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需求变动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09066" y="2039302"/>
              <a:ext cx="36433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01/02/03 与测试脚本需联动更新，变动越大维护成本越高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248400" y="1562100"/>
            <a:ext cx="5334000" cy="952500"/>
            <a:chOff x="6248400" y="1562100"/>
            <a:chExt cx="5334000" cy="952500"/>
          </a:xfrm>
        </p:grpSpPr>
        <p:sp>
          <p:nvSpPr>
            <p:cNvPr id="11" name="Rectangle 11"/>
            <p:cNvSpPr/>
            <p:nvPr/>
          </p:nvSpPr>
          <p:spPr>
            <a:xfrm>
              <a:off x="6248400" y="1562100"/>
              <a:ext cx="5334000" cy="952500"/>
            </a:xfrm>
            <a:prstGeom prst="roundRect">
              <a:avLst>
                <a:gd name="adj" fmla="val 8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547104" y="17373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增量场景成本更高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547866" y="2039302"/>
              <a:ext cx="44208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先判断失效知识库、评估影响范围，再决定增/改/删——判断本身费人力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02742" y="2826068"/>
            <a:ext cx="6797345" cy="264033"/>
            <a:chOff x="602742" y="2826068"/>
            <a:chExt cx="6797345" cy="264033"/>
          </a:xfrm>
        </p:grpSpPr>
        <p:sp>
          <p:nvSpPr>
            <p:cNvPr id="15" name="TextBox 15"/>
            <p:cNvSpPr txBox="1"/>
            <p:nvPr/>
          </p:nvSpPr>
          <p:spPr>
            <a:xfrm>
              <a:off x="602742" y="2826068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下一个挑战：多模块联动（尚未试点验证）</a:t>
              </a:r>
              <a:endParaRPr lang="zh-CN" sz="13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66666" y="2858452"/>
              <a:ext cx="28334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当前试点是单模块闭环（BILLCFG 模块内）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09600" y="3124200"/>
            <a:ext cx="3505200" cy="1619250"/>
            <a:chOff x="609600" y="3124200"/>
            <a:chExt cx="3505200" cy="1619250"/>
          </a:xfrm>
        </p:grpSpPr>
        <p:sp>
          <p:nvSpPr>
            <p:cNvPr id="18" name="Rectangle 18"/>
            <p:cNvSpPr/>
            <p:nvPr/>
          </p:nvSpPr>
          <p:spPr>
            <a:xfrm>
              <a:off x="609600" y="3124200"/>
              <a:ext cx="3505200" cy="1619250"/>
            </a:xfrm>
            <a:prstGeom prst="roundRect">
              <a:avLst>
                <a:gd name="adj" fmla="val 4706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32104" y="33375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知识库需要扩展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2866" y="3658552"/>
              <a:ext cx="1610868" cy="662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跨模块数据流转需要专门的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数据流转设计（蓝图已预留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01b-数据流转设计.md）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343400" y="3124200"/>
            <a:ext cx="3505200" cy="1619250"/>
            <a:chOff x="4343400" y="3124200"/>
            <a:chExt cx="3505200" cy="1619250"/>
          </a:xfrm>
        </p:grpSpPr>
        <p:sp>
          <p:nvSpPr>
            <p:cNvPr id="22" name="Rectangle 22"/>
            <p:cNvSpPr/>
            <p:nvPr/>
          </p:nvSpPr>
          <p:spPr>
            <a:xfrm>
              <a:off x="4343400" y="3124200"/>
              <a:ext cx="3505200" cy="1619250"/>
            </a:xfrm>
            <a:prstGeom prst="roundRect">
              <a:avLst>
                <a:gd name="adj" fmla="val 4706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565904" y="333756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测试场景膨胀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66666" y="3658552"/>
              <a:ext cx="1724216" cy="662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除各模块自身场景外，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还要覆盖跨模块业务流程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（A 配置变更 → B 展示变化）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077200" y="3124200"/>
            <a:ext cx="3505200" cy="1619250"/>
            <a:chOff x="8077200" y="3124200"/>
            <a:chExt cx="3505200" cy="1619250"/>
          </a:xfrm>
        </p:grpSpPr>
        <p:sp>
          <p:nvSpPr>
            <p:cNvPr id="26" name="Rectangle 26"/>
            <p:cNvSpPr/>
            <p:nvPr/>
          </p:nvSpPr>
          <p:spPr>
            <a:xfrm>
              <a:off x="8077200" y="3124200"/>
              <a:ext cx="3505200" cy="1619250"/>
            </a:xfrm>
            <a:prstGeom prst="roundRect">
              <a:avLst>
                <a:gd name="adj" fmla="val 4706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299704" y="33375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影响范围更复杂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0466" y="3658552"/>
              <a:ext cx="1610868" cy="662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一个模块的需求变动，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可能波及其他模块的知识库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与脚本，失效判断跨模块化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609600" y="4991100"/>
            <a:ext cx="10972800" cy="1066800"/>
            <a:chOff x="609600" y="4991100"/>
            <a:chExt cx="10972800" cy="1066800"/>
          </a:xfrm>
        </p:grpSpPr>
        <p:sp>
          <p:nvSpPr>
            <p:cNvPr id="30" name="Rectangle 30"/>
            <p:cNvSpPr/>
            <p:nvPr/>
          </p:nvSpPr>
          <p:spPr>
            <a:xfrm>
              <a:off x="609600" y="4991100"/>
              <a:ext cx="10972800" cy="1066800"/>
            </a:xfrm>
            <a:prstGeom prst="roundRect">
              <a:avLst>
                <a:gd name="adj" fmla="val 714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08304" y="52235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应对思路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09066" y="5544502"/>
              <a:ext cx="8688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编号体系已预留跨模块扩展：REQ-{模块} 各模块独立编号、跨域异常用例 ET-{MODULE}-X-{NNN}（V1.6.3 已出现 1 例跨域 ET）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9066" y="5792152"/>
              <a:ext cx="52406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数据流转知识库的颗粒度、跨模块场景的组织方式，还需在多模块试点中进一步验证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20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2966847" cy="557403"/>
            <a:chOff x="609600" y="568642"/>
            <a:chExt cx="2966847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271462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回到开场的问题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09600" y="1485900"/>
            <a:ext cx="10972800" cy="1028700"/>
            <a:chOff x="609600" y="1485900"/>
            <a:chExt cx="10972800" cy="1028700"/>
          </a:xfrm>
        </p:grpSpPr>
        <p:sp>
          <p:nvSpPr>
            <p:cNvPr id="5" name="Rectangle 5"/>
            <p:cNvSpPr/>
            <p:nvPr/>
          </p:nvSpPr>
          <p:spPr>
            <a:xfrm>
              <a:off x="609600" y="1485900"/>
              <a:ext cx="10972800" cy="1028700"/>
            </a:xfrm>
            <a:prstGeom prst="roundRect">
              <a:avLst>
                <a:gd name="adj" fmla="val 740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08304" y="17373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问题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359027" y="1728788"/>
              <a:ext cx="4179951" cy="5497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怎么让「需求 → 开发 → 测试」围绕同一条主线跑起来，</a:t>
              </a:r>
              <a:b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并用 AI 把自动化测试的产出效率提上去？</a:t>
              </a:r>
              <a:endParaRPr 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9600" y="2743200"/>
            <a:ext cx="10972800" cy="1447800"/>
            <a:chOff x="609600" y="2743200"/>
            <a:chExt cx="10972800" cy="1447800"/>
          </a:xfrm>
        </p:grpSpPr>
        <p:sp>
          <p:nvSpPr>
            <p:cNvPr id="9" name="Rectangle 9"/>
            <p:cNvSpPr/>
            <p:nvPr/>
          </p:nvSpPr>
          <p:spPr>
            <a:xfrm>
              <a:off x="609600" y="2743200"/>
              <a:ext cx="10972800" cy="1447800"/>
            </a:xfrm>
            <a:prstGeom prst="roundRect">
              <a:avLst>
                <a:gd name="adj" fmla="val 526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08304" y="29946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答案</a:t>
              </a:r>
              <a:endParaRPr lang="zh-CN" sz="1200" b="1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07542" y="3302318"/>
              <a:ext cx="5083921" cy="5688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用一个 REQ 编号贯穿全流程：需求文档保覆盖度，详设保准确度，</a:t>
              </a:r>
              <a:b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IDE + AI 提效，Playwright 确定性执行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09066" y="3925252"/>
              <a:ext cx="42511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两个版本试点已验证，沉淀出一套可复制、可审计的自动化测试体系</a:t>
              </a:r>
              <a:endParaRPr lang="zh-CN" sz="105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09600" y="4419600"/>
            <a:ext cx="10972800" cy="1676400"/>
            <a:chOff x="609600" y="4419600"/>
            <a:chExt cx="10972800" cy="1676400"/>
          </a:xfrm>
        </p:grpSpPr>
        <p:sp>
          <p:nvSpPr>
            <p:cNvPr id="14" name="Rectangle 14"/>
            <p:cNvSpPr/>
            <p:nvPr/>
          </p:nvSpPr>
          <p:spPr>
            <a:xfrm>
              <a:off x="609600" y="4419600"/>
              <a:ext cx="10972800" cy="1676400"/>
            </a:xfrm>
            <a:prstGeom prst="roundRect">
              <a:avLst>
                <a:gd name="adj" fmla="val 4545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7542" y="46548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但它不是免费的</a:t>
              </a:r>
              <a:endParaRPr lang="zh-CN" sz="13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08304" y="5013960"/>
              <a:ext cx="27264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知识库的整理与审核会挤占开发时间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8304" y="5318760"/>
              <a:ext cx="43418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需求变动、增量迭代、多模块联动都会带来持续的维护成本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08304" y="5680710"/>
              <a:ext cx="33884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 需要按模块重要性（P0/P1）权衡投入程度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21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3041875" cy="557403"/>
            <a:chOff x="609600" y="568642"/>
            <a:chExt cx="3041875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278965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关键 Takeaway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1485900"/>
            <a:ext cx="10972800" cy="876300"/>
            <a:chOff x="609600" y="1485900"/>
            <a:chExt cx="10972800" cy="876300"/>
          </a:xfrm>
        </p:grpSpPr>
        <p:sp>
          <p:nvSpPr>
            <p:cNvPr id="5" name="Rectangle 5"/>
            <p:cNvSpPr/>
            <p:nvPr/>
          </p:nvSpPr>
          <p:spPr>
            <a:xfrm>
              <a:off x="609600" y="1485900"/>
              <a:ext cx="10972800" cy="876300"/>
            </a:xfrm>
            <a:prstGeom prst="roundRect">
              <a:avLst>
                <a:gd name="adj" fmla="val 869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876300" y="169545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45565" y="185451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516380" y="17049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一个编号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851404" y="1737360"/>
              <a:ext cx="36222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REQ 贯穿需求、代码、用例、脚本、缺陷、结果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18666" y="205835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全链路可追踪、可回填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09600" y="2495550"/>
            <a:ext cx="10972800" cy="876300"/>
            <a:chOff x="609600" y="2495550"/>
            <a:chExt cx="10972800" cy="876300"/>
          </a:xfrm>
        </p:grpSpPr>
        <p:sp>
          <p:nvSpPr>
            <p:cNvPr id="12" name="Rectangle 12"/>
            <p:cNvSpPr/>
            <p:nvPr/>
          </p:nvSpPr>
          <p:spPr>
            <a:xfrm>
              <a:off x="609600" y="2495550"/>
              <a:ext cx="10972800" cy="876300"/>
            </a:xfrm>
            <a:prstGeom prst="roundRect">
              <a:avLst>
                <a:gd name="adj" fmla="val 869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876300" y="270510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45565" y="286416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16380" y="27146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三大支撑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851404" y="2747010"/>
              <a:ext cx="51669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需求文档（01）保覆盖度 · 详细设计（02）保准确度 · IDE + AI 提效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09600" y="3505200"/>
            <a:ext cx="10972800" cy="876300"/>
            <a:chOff x="609600" y="3505200"/>
            <a:chExt cx="10972800" cy="876300"/>
          </a:xfrm>
        </p:grpSpPr>
        <p:sp>
          <p:nvSpPr>
            <p:cNvPr id="18" name="Rectangle 18"/>
            <p:cNvSpPr/>
            <p:nvPr/>
          </p:nvSpPr>
          <p:spPr>
            <a:xfrm>
              <a:off x="609600" y="3505200"/>
              <a:ext cx="10972800" cy="876300"/>
            </a:xfrm>
            <a:prstGeom prst="roundRect">
              <a:avLst>
                <a:gd name="adj" fmla="val 869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876300" y="371475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45565" y="387381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16380" y="37242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两条路线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851404" y="3699510"/>
              <a:ext cx="2919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cli 探路（AI 驾驶员，快速摸底抓缺陷）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51404" y="3985260"/>
              <a:ext cx="34041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脚本沉淀（确定性回归 · 零 Token · 可进 CI）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09600" y="4514850"/>
            <a:ext cx="10972800" cy="876300"/>
            <a:chOff x="609600" y="4514850"/>
            <a:chExt cx="10972800" cy="876300"/>
          </a:xfrm>
        </p:grpSpPr>
        <p:sp>
          <p:nvSpPr>
            <p:cNvPr id="25" name="Rectangle 25"/>
            <p:cNvSpPr/>
            <p:nvPr/>
          </p:nvSpPr>
          <p:spPr>
            <a:xfrm>
              <a:off x="609600" y="4514850"/>
              <a:ext cx="10972800" cy="876300"/>
            </a:xfrm>
            <a:prstGeom prst="roundRect">
              <a:avLst>
                <a:gd name="adj" fmla="val 869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876300" y="472440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45565" y="488346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516380" y="47339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一个定位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851404" y="4766310"/>
              <a:ext cx="36393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是副驾——产出必须经人审核，执行必须确定性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09600" y="5524500"/>
            <a:ext cx="10972800" cy="876300"/>
            <a:chOff x="609600" y="5524500"/>
            <a:chExt cx="10972800" cy="876300"/>
          </a:xfrm>
        </p:grpSpPr>
        <p:sp>
          <p:nvSpPr>
            <p:cNvPr id="31" name="Rectangle 31"/>
            <p:cNvSpPr/>
            <p:nvPr/>
          </p:nvSpPr>
          <p:spPr>
            <a:xfrm>
              <a:off x="609600" y="5524500"/>
              <a:ext cx="10972800" cy="876300"/>
            </a:xfrm>
            <a:prstGeom prst="roundRect">
              <a:avLst>
                <a:gd name="adj" fmla="val 869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876300" y="573405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45565" y="589311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516380" y="57435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一道权衡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851404" y="5775960"/>
              <a:ext cx="40233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知识库质量 ↔ 交付速度，按模块 P0/P1 决定投入程度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22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ai-auto-test-sharing">
  <a:themeElements>
    <a:clrScheme name="ai-auto-test-sharing">
      <a:dk1>
        <a:srgbClr val="262626"/>
      </a:dk1>
      <a:lt1>
        <a:srgbClr val="FFFFFF"/>
      </a:lt1>
      <a:dk2>
        <a:srgbClr val="1F497D"/>
      </a:dk2>
      <a:lt2>
        <a:srgbClr val="FFFFFF"/>
      </a:lt2>
      <a:accent1>
        <a:srgbClr val="0050A0"/>
      </a:accent1>
      <a:accent2>
        <a:srgbClr val="C00000"/>
      </a:accent2>
      <a:accent3>
        <a:srgbClr val="008B3A"/>
      </a:accent3>
      <a:accent4>
        <a:srgbClr val="0050A0"/>
      </a:accent4>
      <a:accent5>
        <a:srgbClr val="DAEAF8"/>
      </a:accent5>
      <a:accent6>
        <a:srgbClr val="595959"/>
      </a:accent6>
      <a:hlink>
        <a:srgbClr val="C00000"/>
      </a:hlink>
      <a:folHlink>
        <a:srgbClr val="008B3A"/>
      </a:folHlink>
    </a:clrScheme>
    <a:fontScheme name="ai-auto-test-sharing">
      <a:maj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-auto-test-sharing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ai-auto-test-sharing">
  <a:themeElements>
    <a:clrScheme name="ai-auto-test-sharing">
      <a:dk1>
        <a:srgbClr val="262626"/>
      </a:dk1>
      <a:lt1>
        <a:srgbClr val="FFFFFF"/>
      </a:lt1>
      <a:dk2>
        <a:srgbClr val="1F497D"/>
      </a:dk2>
      <a:lt2>
        <a:srgbClr val="FFFFFF"/>
      </a:lt2>
      <a:accent1>
        <a:srgbClr val="0050A0"/>
      </a:accent1>
      <a:accent2>
        <a:srgbClr val="C00000"/>
      </a:accent2>
      <a:accent3>
        <a:srgbClr val="008B3A"/>
      </a:accent3>
      <a:accent4>
        <a:srgbClr val="0050A0"/>
      </a:accent4>
      <a:accent5>
        <a:srgbClr val="DAEAF8"/>
      </a:accent5>
      <a:accent6>
        <a:srgbClr val="595959"/>
      </a:accent6>
      <a:hlink>
        <a:srgbClr val="C00000"/>
      </a:hlink>
      <a:folHlink>
        <a:srgbClr val="008B3A"/>
      </a:folHlink>
    </a:clrScheme>
    <a:fontScheme name="ai-auto-test-sharing">
      <a:maj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-auto-test-sharing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6744</Words>
  <Application>WPS 演示</Application>
  <PresentationFormat>On-screen Show (16:9)</PresentationFormat>
  <Paragraphs>846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0" baseType="lpstr">
      <vt:lpstr>Arial</vt:lpstr>
      <vt:lpstr>宋体</vt:lpstr>
      <vt:lpstr>Wingdings</vt:lpstr>
      <vt:lpstr>Arial</vt:lpstr>
      <vt:lpstr>Consolas</vt:lpstr>
      <vt:lpstr>微软雅黑</vt:lpstr>
      <vt:lpstr>Segoe UI</vt:lpstr>
      <vt:lpstr>Arial Unicode MS</vt:lpstr>
      <vt:lpstr>ai-auto-test-sharing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宋焕莲</cp:lastModifiedBy>
  <cp:revision>18</cp:revision>
  <dcterms:created xsi:type="dcterms:W3CDTF">2026-08-27T07:57:00Z</dcterms:created>
  <dcterms:modified xsi:type="dcterms:W3CDTF">2026-08-27T09:41:42Z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29872D33E89A494F947E3580803472CB_12</vt:lpwstr>
  </property>
  <property fmtid="{D5CDD505-2E9C-101B-9397-08002B2CF9AE}" pid="3" name="KSOProductBuildVer">
    <vt:lpwstr>2052-12.1.0.20784</vt:lpwstr>
  </property>
</Properties>
</file>